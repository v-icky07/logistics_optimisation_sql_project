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73" r:id="rId10"/>
    <p:sldId id="286" r:id="rId11"/>
    <p:sldId id="274" r:id="rId12"/>
    <p:sldId id="275" r:id="rId13"/>
    <p:sldId id="287" r:id="rId14"/>
    <p:sldId id="276" r:id="rId15"/>
    <p:sldId id="277" r:id="rId16"/>
    <p:sldId id="278" r:id="rId17"/>
    <p:sldId id="288" r:id="rId18"/>
    <p:sldId id="279" r:id="rId19"/>
    <p:sldId id="280" r:id="rId20"/>
    <p:sldId id="281" r:id="rId21"/>
    <p:sldId id="282" r:id="rId22"/>
    <p:sldId id="283" r:id="rId23"/>
    <p:sldId id="289" r:id="rId24"/>
    <p:sldId id="284" r:id="rId25"/>
    <p:sldId id="285" r:id="rId26"/>
    <p:sldId id="290" r:id="rId27"/>
    <p:sldId id="270" r:id="rId28"/>
    <p:sldId id="292" r:id="rId29"/>
    <p:sldId id="291" r:id="rId30"/>
    <p:sldId id="271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83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40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48" d="100"/>
          <a:sy n="48" d="100"/>
        </p:scale>
        <p:origin x="2752" y="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092A88-DC47-45B1-A74B-CAABF8A8797A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2557382-9A1C-4389-9AB3-87881EC14226}">
      <dgm:prSet/>
      <dgm:spPr/>
      <dgm:t>
        <a:bodyPr/>
        <a:lstStyle/>
        <a:p>
          <a:r>
            <a:rPr lang="en-US"/>
            <a:t>Analyze shipment delays </a:t>
          </a:r>
          <a:r>
            <a:rPr lang="en-GB"/>
            <a:t>patterns and operational inefficiencies</a:t>
          </a:r>
          <a:endParaRPr lang="en-US"/>
        </a:p>
      </dgm:t>
    </dgm:pt>
    <dgm:pt modelId="{F46BFC74-7595-4E77-B7DA-265F5A7F8507}" type="parTrans" cxnId="{AEF78388-CA3F-4CB1-BEA5-EE164FA7156B}">
      <dgm:prSet/>
      <dgm:spPr/>
      <dgm:t>
        <a:bodyPr/>
        <a:lstStyle/>
        <a:p>
          <a:endParaRPr lang="en-US"/>
        </a:p>
      </dgm:t>
    </dgm:pt>
    <dgm:pt modelId="{F9A75675-2732-4ED5-81C6-C5CE25E17C67}" type="sibTrans" cxnId="{AEF78388-CA3F-4CB1-BEA5-EE164FA7156B}">
      <dgm:prSet/>
      <dgm:spPr/>
      <dgm:t>
        <a:bodyPr/>
        <a:lstStyle/>
        <a:p>
          <a:endParaRPr lang="en-US"/>
        </a:p>
      </dgm:t>
    </dgm:pt>
    <dgm:pt modelId="{B1AF8D0A-D824-4227-ABCA-8904D3297083}">
      <dgm:prSet/>
      <dgm:spPr/>
      <dgm:t>
        <a:bodyPr/>
        <a:lstStyle/>
        <a:p>
          <a:r>
            <a:rPr lang="en-US"/>
            <a:t>Optimize route efficiency for improved transit time</a:t>
          </a:r>
        </a:p>
      </dgm:t>
    </dgm:pt>
    <dgm:pt modelId="{A2C07153-3118-4D67-9905-458259360D71}" type="parTrans" cxnId="{4FB2BF06-99F1-4D48-BB54-A293C29B21C0}">
      <dgm:prSet/>
      <dgm:spPr/>
      <dgm:t>
        <a:bodyPr/>
        <a:lstStyle/>
        <a:p>
          <a:endParaRPr lang="en-US"/>
        </a:p>
      </dgm:t>
    </dgm:pt>
    <dgm:pt modelId="{1F5AD8BE-A05C-4A04-BA35-E1A0D8CA5A03}" type="sibTrans" cxnId="{4FB2BF06-99F1-4D48-BB54-A293C29B21C0}">
      <dgm:prSet/>
      <dgm:spPr/>
      <dgm:t>
        <a:bodyPr/>
        <a:lstStyle/>
        <a:p>
          <a:endParaRPr lang="en-US"/>
        </a:p>
      </dgm:t>
    </dgm:pt>
    <dgm:pt modelId="{7E7957EA-2FC2-4E1E-A92A-049E7E00C657}">
      <dgm:prSet/>
      <dgm:spPr/>
      <dgm:t>
        <a:bodyPr/>
        <a:lstStyle/>
        <a:p>
          <a:r>
            <a:rPr lang="en-US"/>
            <a:t>Evaluate warehouse and agent performance</a:t>
          </a:r>
        </a:p>
      </dgm:t>
    </dgm:pt>
    <dgm:pt modelId="{A9C65E20-7C1E-4643-A1E8-A9ED770EAB73}" type="parTrans" cxnId="{760D8941-34FF-4ACE-8AB7-6D23B6281AEE}">
      <dgm:prSet/>
      <dgm:spPr/>
      <dgm:t>
        <a:bodyPr/>
        <a:lstStyle/>
        <a:p>
          <a:endParaRPr lang="en-US"/>
        </a:p>
      </dgm:t>
    </dgm:pt>
    <dgm:pt modelId="{58B94C02-AD78-452C-8AFE-DE3D14FA54BD}" type="sibTrans" cxnId="{760D8941-34FF-4ACE-8AB7-6D23B6281AEE}">
      <dgm:prSet/>
      <dgm:spPr/>
      <dgm:t>
        <a:bodyPr/>
        <a:lstStyle/>
        <a:p>
          <a:endParaRPr lang="en-US"/>
        </a:p>
      </dgm:t>
    </dgm:pt>
    <dgm:pt modelId="{D02E7C56-FDE7-434A-A98D-F9913CA27313}">
      <dgm:prSet/>
      <dgm:spPr/>
      <dgm:t>
        <a:bodyPr/>
        <a:lstStyle/>
        <a:p>
          <a:r>
            <a:rPr lang="en-US"/>
            <a:t>Generate insights to improve on-time delivery</a:t>
          </a:r>
        </a:p>
      </dgm:t>
    </dgm:pt>
    <dgm:pt modelId="{827F4D14-82A6-470E-A483-5239B0FD3714}" type="parTrans" cxnId="{EAF1BF0E-2CF7-4FE1-8AEA-1DAEFD04796D}">
      <dgm:prSet/>
      <dgm:spPr/>
      <dgm:t>
        <a:bodyPr/>
        <a:lstStyle/>
        <a:p>
          <a:endParaRPr lang="en-US"/>
        </a:p>
      </dgm:t>
    </dgm:pt>
    <dgm:pt modelId="{724244F9-21AF-4DA1-9936-086F9FAEDD54}" type="sibTrans" cxnId="{EAF1BF0E-2CF7-4FE1-8AEA-1DAEFD04796D}">
      <dgm:prSet/>
      <dgm:spPr/>
      <dgm:t>
        <a:bodyPr/>
        <a:lstStyle/>
        <a:p>
          <a:endParaRPr lang="en-US"/>
        </a:p>
      </dgm:t>
    </dgm:pt>
    <dgm:pt modelId="{C1281B59-9025-4863-9FC5-00C431CA4FF4}" type="pres">
      <dgm:prSet presAssocID="{4E092A88-DC47-45B1-A74B-CAABF8A8797A}" presName="root" presStyleCnt="0">
        <dgm:presLayoutVars>
          <dgm:dir/>
          <dgm:resizeHandles val="exact"/>
        </dgm:presLayoutVars>
      </dgm:prSet>
      <dgm:spPr/>
    </dgm:pt>
    <dgm:pt modelId="{8F970873-90B4-4A52-8818-AEA8ED646FD7}" type="pres">
      <dgm:prSet presAssocID="{4E092A88-DC47-45B1-A74B-CAABF8A8797A}" presName="container" presStyleCnt="0">
        <dgm:presLayoutVars>
          <dgm:dir/>
          <dgm:resizeHandles val="exact"/>
        </dgm:presLayoutVars>
      </dgm:prSet>
      <dgm:spPr/>
    </dgm:pt>
    <dgm:pt modelId="{3AB19578-50A7-4D0F-8D53-48A99731F224}" type="pres">
      <dgm:prSet presAssocID="{12557382-9A1C-4389-9AB3-87881EC14226}" presName="compNode" presStyleCnt="0"/>
      <dgm:spPr/>
    </dgm:pt>
    <dgm:pt modelId="{6FE01139-A030-475B-894C-CE85AE83D3A0}" type="pres">
      <dgm:prSet presAssocID="{12557382-9A1C-4389-9AB3-87881EC14226}" presName="iconBgRect" presStyleLbl="bgShp" presStyleIdx="0" presStyleCnt="4"/>
      <dgm:spPr/>
    </dgm:pt>
    <dgm:pt modelId="{4C8B5E2C-F15B-4A8F-9382-94AD46594D77}" type="pres">
      <dgm:prSet presAssocID="{12557382-9A1C-4389-9AB3-87881EC1422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4341FC2D-4A6D-4602-93BD-079C63DD7A45}" type="pres">
      <dgm:prSet presAssocID="{12557382-9A1C-4389-9AB3-87881EC14226}" presName="spaceRect" presStyleCnt="0"/>
      <dgm:spPr/>
    </dgm:pt>
    <dgm:pt modelId="{383639E7-4BFD-422D-AF55-42B3E750F753}" type="pres">
      <dgm:prSet presAssocID="{12557382-9A1C-4389-9AB3-87881EC14226}" presName="textRect" presStyleLbl="revTx" presStyleIdx="0" presStyleCnt="4">
        <dgm:presLayoutVars>
          <dgm:chMax val="1"/>
          <dgm:chPref val="1"/>
        </dgm:presLayoutVars>
      </dgm:prSet>
      <dgm:spPr/>
    </dgm:pt>
    <dgm:pt modelId="{794563F7-ADBF-442B-92D3-71613766BB1F}" type="pres">
      <dgm:prSet presAssocID="{F9A75675-2732-4ED5-81C6-C5CE25E17C67}" presName="sibTrans" presStyleLbl="sibTrans2D1" presStyleIdx="0" presStyleCnt="0"/>
      <dgm:spPr/>
    </dgm:pt>
    <dgm:pt modelId="{7A685A50-627C-46F5-A3F7-3BC1CD8DE8F9}" type="pres">
      <dgm:prSet presAssocID="{B1AF8D0A-D824-4227-ABCA-8904D3297083}" presName="compNode" presStyleCnt="0"/>
      <dgm:spPr/>
    </dgm:pt>
    <dgm:pt modelId="{BECA9321-2D23-4671-9F5C-0B8F424A9E8F}" type="pres">
      <dgm:prSet presAssocID="{B1AF8D0A-D824-4227-ABCA-8904D3297083}" presName="iconBgRect" presStyleLbl="bgShp" presStyleIdx="1" presStyleCnt="4"/>
      <dgm:spPr/>
    </dgm:pt>
    <dgm:pt modelId="{8D700F95-2895-4472-A81E-6A505135A183}" type="pres">
      <dgm:prSet presAssocID="{B1AF8D0A-D824-4227-ABCA-8904D329708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AA465F5E-8B18-457D-B836-D581BBB9659D}" type="pres">
      <dgm:prSet presAssocID="{B1AF8D0A-D824-4227-ABCA-8904D3297083}" presName="spaceRect" presStyleCnt="0"/>
      <dgm:spPr/>
    </dgm:pt>
    <dgm:pt modelId="{563827D2-4E66-4417-80A1-9E8D98118935}" type="pres">
      <dgm:prSet presAssocID="{B1AF8D0A-D824-4227-ABCA-8904D3297083}" presName="textRect" presStyleLbl="revTx" presStyleIdx="1" presStyleCnt="4">
        <dgm:presLayoutVars>
          <dgm:chMax val="1"/>
          <dgm:chPref val="1"/>
        </dgm:presLayoutVars>
      </dgm:prSet>
      <dgm:spPr/>
    </dgm:pt>
    <dgm:pt modelId="{4891FFE7-A978-421D-A7F6-F376C3566802}" type="pres">
      <dgm:prSet presAssocID="{1F5AD8BE-A05C-4A04-BA35-E1A0D8CA5A03}" presName="sibTrans" presStyleLbl="sibTrans2D1" presStyleIdx="0" presStyleCnt="0"/>
      <dgm:spPr/>
    </dgm:pt>
    <dgm:pt modelId="{71C1C2B2-1567-414E-A3ED-08C7F2455F90}" type="pres">
      <dgm:prSet presAssocID="{7E7957EA-2FC2-4E1E-A92A-049E7E00C657}" presName="compNode" presStyleCnt="0"/>
      <dgm:spPr/>
    </dgm:pt>
    <dgm:pt modelId="{6AC3F68F-DA15-42CA-A160-1A5A8D418317}" type="pres">
      <dgm:prSet presAssocID="{7E7957EA-2FC2-4E1E-A92A-049E7E00C657}" presName="iconBgRect" presStyleLbl="bgShp" presStyleIdx="2" presStyleCnt="4"/>
      <dgm:spPr/>
    </dgm:pt>
    <dgm:pt modelId="{C9448E8E-8277-46FB-AA10-36085A0CC4E7}" type="pres">
      <dgm:prSet presAssocID="{7E7957EA-2FC2-4E1E-A92A-049E7E00C657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52A0DC9-E205-414D-A886-5D1265E0C5F1}" type="pres">
      <dgm:prSet presAssocID="{7E7957EA-2FC2-4E1E-A92A-049E7E00C657}" presName="spaceRect" presStyleCnt="0"/>
      <dgm:spPr/>
    </dgm:pt>
    <dgm:pt modelId="{3EDEE0B3-B57C-43E2-8F9C-BD7571C77269}" type="pres">
      <dgm:prSet presAssocID="{7E7957EA-2FC2-4E1E-A92A-049E7E00C657}" presName="textRect" presStyleLbl="revTx" presStyleIdx="2" presStyleCnt="4">
        <dgm:presLayoutVars>
          <dgm:chMax val="1"/>
          <dgm:chPref val="1"/>
        </dgm:presLayoutVars>
      </dgm:prSet>
      <dgm:spPr/>
    </dgm:pt>
    <dgm:pt modelId="{85DAB844-1140-463A-AE32-2834D58AF570}" type="pres">
      <dgm:prSet presAssocID="{58B94C02-AD78-452C-8AFE-DE3D14FA54BD}" presName="sibTrans" presStyleLbl="sibTrans2D1" presStyleIdx="0" presStyleCnt="0"/>
      <dgm:spPr/>
    </dgm:pt>
    <dgm:pt modelId="{8A62686E-4126-4786-A6F9-4404038D35F0}" type="pres">
      <dgm:prSet presAssocID="{D02E7C56-FDE7-434A-A98D-F9913CA27313}" presName="compNode" presStyleCnt="0"/>
      <dgm:spPr/>
    </dgm:pt>
    <dgm:pt modelId="{0D279F8F-6254-4C10-8E37-4FFD8FF2B3FA}" type="pres">
      <dgm:prSet presAssocID="{D02E7C56-FDE7-434A-A98D-F9913CA27313}" presName="iconBgRect" presStyleLbl="bgShp" presStyleIdx="3" presStyleCnt="4"/>
      <dgm:spPr/>
    </dgm:pt>
    <dgm:pt modelId="{983792E5-E3CD-46BB-8CF1-9C7DF2EF6E74}" type="pres">
      <dgm:prSet presAssocID="{D02E7C56-FDE7-434A-A98D-F9913CA2731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9265F7F0-C0A1-4146-A497-7B7B8B610F44}" type="pres">
      <dgm:prSet presAssocID="{D02E7C56-FDE7-434A-A98D-F9913CA27313}" presName="spaceRect" presStyleCnt="0"/>
      <dgm:spPr/>
    </dgm:pt>
    <dgm:pt modelId="{0C165E0A-6D84-46B0-8108-88A79A6B4FF0}" type="pres">
      <dgm:prSet presAssocID="{D02E7C56-FDE7-434A-A98D-F9913CA2731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FB2BF06-99F1-4D48-BB54-A293C29B21C0}" srcId="{4E092A88-DC47-45B1-A74B-CAABF8A8797A}" destId="{B1AF8D0A-D824-4227-ABCA-8904D3297083}" srcOrd="1" destOrd="0" parTransId="{A2C07153-3118-4D67-9905-458259360D71}" sibTransId="{1F5AD8BE-A05C-4A04-BA35-E1A0D8CA5A03}"/>
    <dgm:cxn modelId="{226CED0A-5456-4289-BA20-112931CA5B63}" type="presOf" srcId="{D02E7C56-FDE7-434A-A98D-F9913CA27313}" destId="{0C165E0A-6D84-46B0-8108-88A79A6B4FF0}" srcOrd="0" destOrd="0" presId="urn:microsoft.com/office/officeart/2018/2/layout/IconCircleList"/>
    <dgm:cxn modelId="{EAF1BF0E-2CF7-4FE1-8AEA-1DAEFD04796D}" srcId="{4E092A88-DC47-45B1-A74B-CAABF8A8797A}" destId="{D02E7C56-FDE7-434A-A98D-F9913CA27313}" srcOrd="3" destOrd="0" parTransId="{827F4D14-82A6-470E-A483-5239B0FD3714}" sibTransId="{724244F9-21AF-4DA1-9936-086F9FAEDD54}"/>
    <dgm:cxn modelId="{9C4E8424-827E-4C51-BD77-8290E52CB7FE}" type="presOf" srcId="{1F5AD8BE-A05C-4A04-BA35-E1A0D8CA5A03}" destId="{4891FFE7-A978-421D-A7F6-F376C3566802}" srcOrd="0" destOrd="0" presId="urn:microsoft.com/office/officeart/2018/2/layout/IconCircleList"/>
    <dgm:cxn modelId="{1D726839-9DD7-4721-A4F9-C283D377C2A3}" type="presOf" srcId="{F9A75675-2732-4ED5-81C6-C5CE25E17C67}" destId="{794563F7-ADBF-442B-92D3-71613766BB1F}" srcOrd="0" destOrd="0" presId="urn:microsoft.com/office/officeart/2018/2/layout/IconCircleList"/>
    <dgm:cxn modelId="{760D8941-34FF-4ACE-8AB7-6D23B6281AEE}" srcId="{4E092A88-DC47-45B1-A74B-CAABF8A8797A}" destId="{7E7957EA-2FC2-4E1E-A92A-049E7E00C657}" srcOrd="2" destOrd="0" parTransId="{A9C65E20-7C1E-4643-A1E8-A9ED770EAB73}" sibTransId="{58B94C02-AD78-452C-8AFE-DE3D14FA54BD}"/>
    <dgm:cxn modelId="{3862C64D-9811-411A-AA29-7305BD196CF0}" type="presOf" srcId="{B1AF8D0A-D824-4227-ABCA-8904D3297083}" destId="{563827D2-4E66-4417-80A1-9E8D98118935}" srcOrd="0" destOrd="0" presId="urn:microsoft.com/office/officeart/2018/2/layout/IconCircleList"/>
    <dgm:cxn modelId="{AEF78388-CA3F-4CB1-BEA5-EE164FA7156B}" srcId="{4E092A88-DC47-45B1-A74B-CAABF8A8797A}" destId="{12557382-9A1C-4389-9AB3-87881EC14226}" srcOrd="0" destOrd="0" parTransId="{F46BFC74-7595-4E77-B7DA-265F5A7F8507}" sibTransId="{F9A75675-2732-4ED5-81C6-C5CE25E17C67}"/>
    <dgm:cxn modelId="{9D1FC5CF-037F-4B00-946A-D5522349191E}" type="presOf" srcId="{58B94C02-AD78-452C-8AFE-DE3D14FA54BD}" destId="{85DAB844-1140-463A-AE32-2834D58AF570}" srcOrd="0" destOrd="0" presId="urn:microsoft.com/office/officeart/2018/2/layout/IconCircleList"/>
    <dgm:cxn modelId="{74D735D8-ED90-4595-86A9-BDEA432B507A}" type="presOf" srcId="{7E7957EA-2FC2-4E1E-A92A-049E7E00C657}" destId="{3EDEE0B3-B57C-43E2-8F9C-BD7571C77269}" srcOrd="0" destOrd="0" presId="urn:microsoft.com/office/officeart/2018/2/layout/IconCircleList"/>
    <dgm:cxn modelId="{7DBD3EDF-7191-4624-99C9-257A29F5D3A9}" type="presOf" srcId="{4E092A88-DC47-45B1-A74B-CAABF8A8797A}" destId="{C1281B59-9025-4863-9FC5-00C431CA4FF4}" srcOrd="0" destOrd="0" presId="urn:microsoft.com/office/officeart/2018/2/layout/IconCircleList"/>
    <dgm:cxn modelId="{E9FF43E3-884D-4EA6-8AE4-AF9DB599E0C9}" type="presOf" srcId="{12557382-9A1C-4389-9AB3-87881EC14226}" destId="{383639E7-4BFD-422D-AF55-42B3E750F753}" srcOrd="0" destOrd="0" presId="urn:microsoft.com/office/officeart/2018/2/layout/IconCircleList"/>
    <dgm:cxn modelId="{CD6FF7EC-08A9-493D-8A08-A0AAF5C3A135}" type="presParOf" srcId="{C1281B59-9025-4863-9FC5-00C431CA4FF4}" destId="{8F970873-90B4-4A52-8818-AEA8ED646FD7}" srcOrd="0" destOrd="0" presId="urn:microsoft.com/office/officeart/2018/2/layout/IconCircleList"/>
    <dgm:cxn modelId="{BB75FA8E-ED5E-4F7D-B147-2C09FDD33CBC}" type="presParOf" srcId="{8F970873-90B4-4A52-8818-AEA8ED646FD7}" destId="{3AB19578-50A7-4D0F-8D53-48A99731F224}" srcOrd="0" destOrd="0" presId="urn:microsoft.com/office/officeart/2018/2/layout/IconCircleList"/>
    <dgm:cxn modelId="{4A1AEDDE-A438-43C6-B226-E969F6738E65}" type="presParOf" srcId="{3AB19578-50A7-4D0F-8D53-48A99731F224}" destId="{6FE01139-A030-475B-894C-CE85AE83D3A0}" srcOrd="0" destOrd="0" presId="urn:microsoft.com/office/officeart/2018/2/layout/IconCircleList"/>
    <dgm:cxn modelId="{FF58D1DE-E3DD-4249-A31C-80C48F529015}" type="presParOf" srcId="{3AB19578-50A7-4D0F-8D53-48A99731F224}" destId="{4C8B5E2C-F15B-4A8F-9382-94AD46594D77}" srcOrd="1" destOrd="0" presId="urn:microsoft.com/office/officeart/2018/2/layout/IconCircleList"/>
    <dgm:cxn modelId="{C14E9BB8-AD24-4562-AC02-BDDAA3C2EDF4}" type="presParOf" srcId="{3AB19578-50A7-4D0F-8D53-48A99731F224}" destId="{4341FC2D-4A6D-4602-93BD-079C63DD7A45}" srcOrd="2" destOrd="0" presId="urn:microsoft.com/office/officeart/2018/2/layout/IconCircleList"/>
    <dgm:cxn modelId="{FEFBE269-5185-4F90-94B4-0D4EC44E6D76}" type="presParOf" srcId="{3AB19578-50A7-4D0F-8D53-48A99731F224}" destId="{383639E7-4BFD-422D-AF55-42B3E750F753}" srcOrd="3" destOrd="0" presId="urn:microsoft.com/office/officeart/2018/2/layout/IconCircleList"/>
    <dgm:cxn modelId="{B23A295C-6AB8-4409-8C55-E93852E0E524}" type="presParOf" srcId="{8F970873-90B4-4A52-8818-AEA8ED646FD7}" destId="{794563F7-ADBF-442B-92D3-71613766BB1F}" srcOrd="1" destOrd="0" presId="urn:microsoft.com/office/officeart/2018/2/layout/IconCircleList"/>
    <dgm:cxn modelId="{369E35F5-E16C-4A3A-ACB1-F7499B615603}" type="presParOf" srcId="{8F970873-90B4-4A52-8818-AEA8ED646FD7}" destId="{7A685A50-627C-46F5-A3F7-3BC1CD8DE8F9}" srcOrd="2" destOrd="0" presId="urn:microsoft.com/office/officeart/2018/2/layout/IconCircleList"/>
    <dgm:cxn modelId="{D6115B6D-D9A4-4B20-803C-95997E924A5D}" type="presParOf" srcId="{7A685A50-627C-46F5-A3F7-3BC1CD8DE8F9}" destId="{BECA9321-2D23-4671-9F5C-0B8F424A9E8F}" srcOrd="0" destOrd="0" presId="urn:microsoft.com/office/officeart/2018/2/layout/IconCircleList"/>
    <dgm:cxn modelId="{04CEA55B-1F71-49A9-AD7E-0948C87CC410}" type="presParOf" srcId="{7A685A50-627C-46F5-A3F7-3BC1CD8DE8F9}" destId="{8D700F95-2895-4472-A81E-6A505135A183}" srcOrd="1" destOrd="0" presId="urn:microsoft.com/office/officeart/2018/2/layout/IconCircleList"/>
    <dgm:cxn modelId="{B2811842-F060-4C1C-A11C-CDEE2C43E6A6}" type="presParOf" srcId="{7A685A50-627C-46F5-A3F7-3BC1CD8DE8F9}" destId="{AA465F5E-8B18-457D-B836-D581BBB9659D}" srcOrd="2" destOrd="0" presId="urn:microsoft.com/office/officeart/2018/2/layout/IconCircleList"/>
    <dgm:cxn modelId="{00A5D8AD-BECA-491E-B840-978A46D0F18A}" type="presParOf" srcId="{7A685A50-627C-46F5-A3F7-3BC1CD8DE8F9}" destId="{563827D2-4E66-4417-80A1-9E8D98118935}" srcOrd="3" destOrd="0" presId="urn:microsoft.com/office/officeart/2018/2/layout/IconCircleList"/>
    <dgm:cxn modelId="{0585DF08-0775-426E-A986-F953AAB091B2}" type="presParOf" srcId="{8F970873-90B4-4A52-8818-AEA8ED646FD7}" destId="{4891FFE7-A978-421D-A7F6-F376C3566802}" srcOrd="3" destOrd="0" presId="urn:microsoft.com/office/officeart/2018/2/layout/IconCircleList"/>
    <dgm:cxn modelId="{DBD37311-7B3E-4D3B-8C16-FF219E96733B}" type="presParOf" srcId="{8F970873-90B4-4A52-8818-AEA8ED646FD7}" destId="{71C1C2B2-1567-414E-A3ED-08C7F2455F90}" srcOrd="4" destOrd="0" presId="urn:microsoft.com/office/officeart/2018/2/layout/IconCircleList"/>
    <dgm:cxn modelId="{54E32014-DE44-4847-9DD8-292E99782C8D}" type="presParOf" srcId="{71C1C2B2-1567-414E-A3ED-08C7F2455F90}" destId="{6AC3F68F-DA15-42CA-A160-1A5A8D418317}" srcOrd="0" destOrd="0" presId="urn:microsoft.com/office/officeart/2018/2/layout/IconCircleList"/>
    <dgm:cxn modelId="{12C02ECA-7F73-4ED3-9C69-8548C89E3055}" type="presParOf" srcId="{71C1C2B2-1567-414E-A3ED-08C7F2455F90}" destId="{C9448E8E-8277-46FB-AA10-36085A0CC4E7}" srcOrd="1" destOrd="0" presId="urn:microsoft.com/office/officeart/2018/2/layout/IconCircleList"/>
    <dgm:cxn modelId="{2EDF94F1-A019-4E39-846E-2C4B117D290B}" type="presParOf" srcId="{71C1C2B2-1567-414E-A3ED-08C7F2455F90}" destId="{052A0DC9-E205-414D-A886-5D1265E0C5F1}" srcOrd="2" destOrd="0" presId="urn:microsoft.com/office/officeart/2018/2/layout/IconCircleList"/>
    <dgm:cxn modelId="{D45A8CFD-4A75-4032-96FA-48BD1947B7BB}" type="presParOf" srcId="{71C1C2B2-1567-414E-A3ED-08C7F2455F90}" destId="{3EDEE0B3-B57C-43E2-8F9C-BD7571C77269}" srcOrd="3" destOrd="0" presId="urn:microsoft.com/office/officeart/2018/2/layout/IconCircleList"/>
    <dgm:cxn modelId="{78018A92-1103-4ACA-8DFF-0A3356A28926}" type="presParOf" srcId="{8F970873-90B4-4A52-8818-AEA8ED646FD7}" destId="{85DAB844-1140-463A-AE32-2834D58AF570}" srcOrd="5" destOrd="0" presId="urn:microsoft.com/office/officeart/2018/2/layout/IconCircleList"/>
    <dgm:cxn modelId="{EA7C49DC-A361-4B85-9FB0-DA3876DECD72}" type="presParOf" srcId="{8F970873-90B4-4A52-8818-AEA8ED646FD7}" destId="{8A62686E-4126-4786-A6F9-4404038D35F0}" srcOrd="6" destOrd="0" presId="urn:microsoft.com/office/officeart/2018/2/layout/IconCircleList"/>
    <dgm:cxn modelId="{CD4E7EEA-D856-4E04-92AF-353C356A00A9}" type="presParOf" srcId="{8A62686E-4126-4786-A6F9-4404038D35F0}" destId="{0D279F8F-6254-4C10-8E37-4FFD8FF2B3FA}" srcOrd="0" destOrd="0" presId="urn:microsoft.com/office/officeart/2018/2/layout/IconCircleList"/>
    <dgm:cxn modelId="{B43E31F3-F1D0-4538-801E-5C8216EAAF86}" type="presParOf" srcId="{8A62686E-4126-4786-A6F9-4404038D35F0}" destId="{983792E5-E3CD-46BB-8CF1-9C7DF2EF6E74}" srcOrd="1" destOrd="0" presId="urn:microsoft.com/office/officeart/2018/2/layout/IconCircleList"/>
    <dgm:cxn modelId="{6FC45639-5C48-4BAF-B0AB-18BE43E87779}" type="presParOf" srcId="{8A62686E-4126-4786-A6F9-4404038D35F0}" destId="{9265F7F0-C0A1-4146-A497-7B7B8B610F44}" srcOrd="2" destOrd="0" presId="urn:microsoft.com/office/officeart/2018/2/layout/IconCircleList"/>
    <dgm:cxn modelId="{EDAFD138-7E57-4D38-A040-4D8D9F360235}" type="presParOf" srcId="{8A62686E-4126-4786-A6F9-4404038D35F0}" destId="{0C165E0A-6D84-46B0-8108-88A79A6B4FF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F68CE17-EAFA-4EC7-AC91-231484CD636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560DECD-239F-4FF8-AA28-9C3A39B25E25}">
      <dgm:prSet/>
      <dgm:spPr/>
      <dgm:t>
        <a:bodyPr/>
        <a:lstStyle/>
        <a:p>
          <a:pPr>
            <a:defRPr cap="all"/>
          </a:pPr>
          <a:r>
            <a:rPr lang="en-US"/>
            <a:t>Orders</a:t>
          </a:r>
        </a:p>
      </dgm:t>
    </dgm:pt>
    <dgm:pt modelId="{B6B6BB62-6F20-42EE-A747-D33C98926FA6}" type="parTrans" cxnId="{93AC4E5B-0ADC-4518-ADAD-CF15E611EF13}">
      <dgm:prSet/>
      <dgm:spPr/>
      <dgm:t>
        <a:bodyPr/>
        <a:lstStyle/>
        <a:p>
          <a:endParaRPr lang="en-US"/>
        </a:p>
      </dgm:t>
    </dgm:pt>
    <dgm:pt modelId="{10A46669-4DFD-40C4-ACD0-6C8AB90CCCD2}" type="sibTrans" cxnId="{93AC4E5B-0ADC-4518-ADAD-CF15E611EF13}">
      <dgm:prSet/>
      <dgm:spPr/>
      <dgm:t>
        <a:bodyPr/>
        <a:lstStyle/>
        <a:p>
          <a:endParaRPr lang="en-US"/>
        </a:p>
      </dgm:t>
    </dgm:pt>
    <dgm:pt modelId="{E391EC09-651A-4831-8F4C-40A31462B2FF}">
      <dgm:prSet/>
      <dgm:spPr/>
      <dgm:t>
        <a:bodyPr/>
        <a:lstStyle/>
        <a:p>
          <a:pPr>
            <a:defRPr cap="all"/>
          </a:pPr>
          <a:r>
            <a:rPr lang="en-US"/>
            <a:t>Routes</a:t>
          </a:r>
        </a:p>
      </dgm:t>
    </dgm:pt>
    <dgm:pt modelId="{11C20873-9E17-42F5-A435-54D2C9DCFE00}" type="parTrans" cxnId="{538EF391-7827-4138-8EA8-7C4A7E7F7957}">
      <dgm:prSet/>
      <dgm:spPr/>
      <dgm:t>
        <a:bodyPr/>
        <a:lstStyle/>
        <a:p>
          <a:endParaRPr lang="en-US"/>
        </a:p>
      </dgm:t>
    </dgm:pt>
    <dgm:pt modelId="{F165354C-EFE9-4CD0-928C-34FE5E78AE5D}" type="sibTrans" cxnId="{538EF391-7827-4138-8EA8-7C4A7E7F7957}">
      <dgm:prSet/>
      <dgm:spPr/>
      <dgm:t>
        <a:bodyPr/>
        <a:lstStyle/>
        <a:p>
          <a:endParaRPr lang="en-US"/>
        </a:p>
      </dgm:t>
    </dgm:pt>
    <dgm:pt modelId="{3EC31753-84DC-403A-A60A-DC9F06680AD9}">
      <dgm:prSet/>
      <dgm:spPr/>
      <dgm:t>
        <a:bodyPr/>
        <a:lstStyle/>
        <a:p>
          <a:pPr>
            <a:defRPr cap="all"/>
          </a:pPr>
          <a:r>
            <a:rPr lang="en-US"/>
            <a:t>Warehouses</a:t>
          </a:r>
        </a:p>
      </dgm:t>
    </dgm:pt>
    <dgm:pt modelId="{F3A723C9-8D80-4EC8-ABBD-0085719C3D7B}" type="parTrans" cxnId="{4468FFC4-2961-4F39-A0D0-8E66A1951B23}">
      <dgm:prSet/>
      <dgm:spPr/>
      <dgm:t>
        <a:bodyPr/>
        <a:lstStyle/>
        <a:p>
          <a:endParaRPr lang="en-US"/>
        </a:p>
      </dgm:t>
    </dgm:pt>
    <dgm:pt modelId="{3955C6B8-99DB-4ECC-BBFB-6F9D7A8E7EAD}" type="sibTrans" cxnId="{4468FFC4-2961-4F39-A0D0-8E66A1951B23}">
      <dgm:prSet/>
      <dgm:spPr/>
      <dgm:t>
        <a:bodyPr/>
        <a:lstStyle/>
        <a:p>
          <a:endParaRPr lang="en-US"/>
        </a:p>
      </dgm:t>
    </dgm:pt>
    <dgm:pt modelId="{EA976CDB-3336-474E-9C8E-A43EA49F6DE6}">
      <dgm:prSet/>
      <dgm:spPr/>
      <dgm:t>
        <a:bodyPr/>
        <a:lstStyle/>
        <a:p>
          <a:pPr>
            <a:defRPr cap="all"/>
          </a:pPr>
          <a:r>
            <a:rPr lang="en-US"/>
            <a:t>Delivery Agents</a:t>
          </a:r>
        </a:p>
      </dgm:t>
    </dgm:pt>
    <dgm:pt modelId="{C87EF339-7830-40C1-B511-20F9028E19F0}" type="parTrans" cxnId="{1A0F22AF-8921-4A29-AB9D-96EE4B59ACAC}">
      <dgm:prSet/>
      <dgm:spPr/>
      <dgm:t>
        <a:bodyPr/>
        <a:lstStyle/>
        <a:p>
          <a:endParaRPr lang="en-US"/>
        </a:p>
      </dgm:t>
    </dgm:pt>
    <dgm:pt modelId="{7E5D15C0-67DA-4167-A803-4FD39028827D}" type="sibTrans" cxnId="{1A0F22AF-8921-4A29-AB9D-96EE4B59ACAC}">
      <dgm:prSet/>
      <dgm:spPr/>
      <dgm:t>
        <a:bodyPr/>
        <a:lstStyle/>
        <a:p>
          <a:endParaRPr lang="en-US"/>
        </a:p>
      </dgm:t>
    </dgm:pt>
    <dgm:pt modelId="{805E6320-90F1-4F7F-9EA6-524AB641EED0}">
      <dgm:prSet/>
      <dgm:spPr/>
      <dgm:t>
        <a:bodyPr/>
        <a:lstStyle/>
        <a:p>
          <a:pPr>
            <a:defRPr cap="all"/>
          </a:pPr>
          <a:r>
            <a:rPr lang="en-US"/>
            <a:t>Shipments</a:t>
          </a:r>
        </a:p>
      </dgm:t>
    </dgm:pt>
    <dgm:pt modelId="{DE0B1B0D-B996-4A4B-B842-799325088FDE}" type="parTrans" cxnId="{DFBDA5C8-313F-4347-B03E-AF2E72AF620A}">
      <dgm:prSet/>
      <dgm:spPr/>
      <dgm:t>
        <a:bodyPr/>
        <a:lstStyle/>
        <a:p>
          <a:endParaRPr lang="en-US"/>
        </a:p>
      </dgm:t>
    </dgm:pt>
    <dgm:pt modelId="{7F259AB2-79BE-47E9-A663-423AF1C6DE6E}" type="sibTrans" cxnId="{DFBDA5C8-313F-4347-B03E-AF2E72AF620A}">
      <dgm:prSet/>
      <dgm:spPr/>
      <dgm:t>
        <a:bodyPr/>
        <a:lstStyle/>
        <a:p>
          <a:endParaRPr lang="en-US"/>
        </a:p>
      </dgm:t>
    </dgm:pt>
    <dgm:pt modelId="{48BAA1BC-BD30-4198-BF4E-008BA1F283E0}" type="pres">
      <dgm:prSet presAssocID="{5F68CE17-EAFA-4EC7-AC91-231484CD6369}" presName="root" presStyleCnt="0">
        <dgm:presLayoutVars>
          <dgm:dir/>
          <dgm:resizeHandles val="exact"/>
        </dgm:presLayoutVars>
      </dgm:prSet>
      <dgm:spPr/>
    </dgm:pt>
    <dgm:pt modelId="{65450411-D208-4751-93A5-7C9DFD9C4488}" type="pres">
      <dgm:prSet presAssocID="{F560DECD-239F-4FF8-AA28-9C3A39B25E25}" presName="compNode" presStyleCnt="0"/>
      <dgm:spPr/>
    </dgm:pt>
    <dgm:pt modelId="{8F1B1AC8-3A24-4E81-920A-2C336B8EA488}" type="pres">
      <dgm:prSet presAssocID="{F560DECD-239F-4FF8-AA28-9C3A39B25E25}" presName="iconBgRect" presStyleLbl="bgShp" presStyleIdx="0" presStyleCnt="5"/>
      <dgm:spPr/>
    </dgm:pt>
    <dgm:pt modelId="{02BAD77C-8439-4FFF-9524-7F831ECCE42A}" type="pres">
      <dgm:prSet presAssocID="{F560DECD-239F-4FF8-AA28-9C3A39B25E25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7D513C6B-BB22-46DD-8877-0C4043B7E6CB}" type="pres">
      <dgm:prSet presAssocID="{F560DECD-239F-4FF8-AA28-9C3A39B25E25}" presName="spaceRect" presStyleCnt="0"/>
      <dgm:spPr/>
    </dgm:pt>
    <dgm:pt modelId="{29C02978-BFA8-4E10-A808-C584690F892A}" type="pres">
      <dgm:prSet presAssocID="{F560DECD-239F-4FF8-AA28-9C3A39B25E25}" presName="textRect" presStyleLbl="revTx" presStyleIdx="0" presStyleCnt="5">
        <dgm:presLayoutVars>
          <dgm:chMax val="1"/>
          <dgm:chPref val="1"/>
        </dgm:presLayoutVars>
      </dgm:prSet>
      <dgm:spPr/>
    </dgm:pt>
    <dgm:pt modelId="{B135EA85-1A19-4537-89D3-CA98691EEA9D}" type="pres">
      <dgm:prSet presAssocID="{10A46669-4DFD-40C4-ACD0-6C8AB90CCCD2}" presName="sibTrans" presStyleCnt="0"/>
      <dgm:spPr/>
    </dgm:pt>
    <dgm:pt modelId="{4E04316E-CCEF-49D2-A8F0-8D0A0F682D9D}" type="pres">
      <dgm:prSet presAssocID="{E391EC09-651A-4831-8F4C-40A31462B2FF}" presName="compNode" presStyleCnt="0"/>
      <dgm:spPr/>
    </dgm:pt>
    <dgm:pt modelId="{81B3A057-F2F5-4250-B547-AB413DF5B3D4}" type="pres">
      <dgm:prSet presAssocID="{E391EC09-651A-4831-8F4C-40A31462B2FF}" presName="iconBgRect" presStyleLbl="bgShp" presStyleIdx="1" presStyleCnt="5"/>
      <dgm:spPr/>
    </dgm:pt>
    <dgm:pt modelId="{A4BFA428-6960-4C66-A18F-A6B2E197AE13}" type="pres">
      <dgm:prSet presAssocID="{E391EC09-651A-4831-8F4C-40A31462B2FF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4B8E765B-E28E-4F16-BD58-11AE48E18B5F}" type="pres">
      <dgm:prSet presAssocID="{E391EC09-651A-4831-8F4C-40A31462B2FF}" presName="spaceRect" presStyleCnt="0"/>
      <dgm:spPr/>
    </dgm:pt>
    <dgm:pt modelId="{A2EA03B3-3210-4E92-8CC3-D0DAC9059C63}" type="pres">
      <dgm:prSet presAssocID="{E391EC09-651A-4831-8F4C-40A31462B2FF}" presName="textRect" presStyleLbl="revTx" presStyleIdx="1" presStyleCnt="5">
        <dgm:presLayoutVars>
          <dgm:chMax val="1"/>
          <dgm:chPref val="1"/>
        </dgm:presLayoutVars>
      </dgm:prSet>
      <dgm:spPr/>
    </dgm:pt>
    <dgm:pt modelId="{8F1DF56A-DA58-4975-8993-74E7DB0D13B3}" type="pres">
      <dgm:prSet presAssocID="{F165354C-EFE9-4CD0-928C-34FE5E78AE5D}" presName="sibTrans" presStyleCnt="0"/>
      <dgm:spPr/>
    </dgm:pt>
    <dgm:pt modelId="{D15B7FA5-B0C6-430C-8308-191EC09086B7}" type="pres">
      <dgm:prSet presAssocID="{3EC31753-84DC-403A-A60A-DC9F06680AD9}" presName="compNode" presStyleCnt="0"/>
      <dgm:spPr/>
    </dgm:pt>
    <dgm:pt modelId="{1E32331B-9753-40AA-AAFE-EAC0AC51E64F}" type="pres">
      <dgm:prSet presAssocID="{3EC31753-84DC-403A-A60A-DC9F06680AD9}" presName="iconBgRect" presStyleLbl="bgShp" presStyleIdx="2" presStyleCnt="5"/>
      <dgm:spPr/>
    </dgm:pt>
    <dgm:pt modelId="{6E528D9B-8B2A-4200-B8CF-467A5A718FF4}" type="pres">
      <dgm:prSet presAssocID="{3EC31753-84DC-403A-A60A-DC9F06680AD9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C8957033-65E4-42C8-875F-BEE045B95960}" type="pres">
      <dgm:prSet presAssocID="{3EC31753-84DC-403A-A60A-DC9F06680AD9}" presName="spaceRect" presStyleCnt="0"/>
      <dgm:spPr/>
    </dgm:pt>
    <dgm:pt modelId="{83D0A809-E55C-4DBA-905A-67338CA7B763}" type="pres">
      <dgm:prSet presAssocID="{3EC31753-84DC-403A-A60A-DC9F06680AD9}" presName="textRect" presStyleLbl="revTx" presStyleIdx="2" presStyleCnt="5">
        <dgm:presLayoutVars>
          <dgm:chMax val="1"/>
          <dgm:chPref val="1"/>
        </dgm:presLayoutVars>
      </dgm:prSet>
      <dgm:spPr/>
    </dgm:pt>
    <dgm:pt modelId="{67426D72-C22D-4BC7-8DDC-0D3DCB0F865F}" type="pres">
      <dgm:prSet presAssocID="{3955C6B8-99DB-4ECC-BBFB-6F9D7A8E7EAD}" presName="sibTrans" presStyleCnt="0"/>
      <dgm:spPr/>
    </dgm:pt>
    <dgm:pt modelId="{5E742996-D6CB-467C-8845-371FD715AE93}" type="pres">
      <dgm:prSet presAssocID="{EA976CDB-3336-474E-9C8E-A43EA49F6DE6}" presName="compNode" presStyleCnt="0"/>
      <dgm:spPr/>
    </dgm:pt>
    <dgm:pt modelId="{B721147D-4254-4764-81FF-C960F8603930}" type="pres">
      <dgm:prSet presAssocID="{EA976CDB-3336-474E-9C8E-A43EA49F6DE6}" presName="iconBgRect" presStyleLbl="bgShp" presStyleIdx="3" presStyleCnt="5"/>
      <dgm:spPr/>
    </dgm:pt>
    <dgm:pt modelId="{6EA02BE8-464B-4310-AB9C-5941C7428C86}" type="pres">
      <dgm:prSet presAssocID="{EA976CDB-3336-474E-9C8E-A43EA49F6DE6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742A384D-AC12-4D02-B274-CF8C70E3F526}" type="pres">
      <dgm:prSet presAssocID="{EA976CDB-3336-474E-9C8E-A43EA49F6DE6}" presName="spaceRect" presStyleCnt="0"/>
      <dgm:spPr/>
    </dgm:pt>
    <dgm:pt modelId="{8AF5F83D-2226-4AED-B8CB-032EC2DACBBB}" type="pres">
      <dgm:prSet presAssocID="{EA976CDB-3336-474E-9C8E-A43EA49F6DE6}" presName="textRect" presStyleLbl="revTx" presStyleIdx="3" presStyleCnt="5">
        <dgm:presLayoutVars>
          <dgm:chMax val="1"/>
          <dgm:chPref val="1"/>
        </dgm:presLayoutVars>
      </dgm:prSet>
      <dgm:spPr/>
    </dgm:pt>
    <dgm:pt modelId="{8191968F-FD25-4FE9-813F-B7AFE4A7552B}" type="pres">
      <dgm:prSet presAssocID="{7E5D15C0-67DA-4167-A803-4FD39028827D}" presName="sibTrans" presStyleCnt="0"/>
      <dgm:spPr/>
    </dgm:pt>
    <dgm:pt modelId="{1CEEC219-8CE7-4E3D-8BC7-41E904FE13F3}" type="pres">
      <dgm:prSet presAssocID="{805E6320-90F1-4F7F-9EA6-524AB641EED0}" presName="compNode" presStyleCnt="0"/>
      <dgm:spPr/>
    </dgm:pt>
    <dgm:pt modelId="{DFC995C7-C976-4BB2-AD01-FF5C013FAD5D}" type="pres">
      <dgm:prSet presAssocID="{805E6320-90F1-4F7F-9EA6-524AB641EED0}" presName="iconBgRect" presStyleLbl="bgShp" presStyleIdx="4" presStyleCnt="5"/>
      <dgm:spPr/>
    </dgm:pt>
    <dgm:pt modelId="{83D34F98-E10A-4D76-BF0C-70C24ECE9CD5}" type="pres">
      <dgm:prSet presAssocID="{805E6320-90F1-4F7F-9EA6-524AB641EED0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 trolley"/>
        </a:ext>
      </dgm:extLst>
    </dgm:pt>
    <dgm:pt modelId="{B2524C08-710D-46A2-AB93-F20021582BC0}" type="pres">
      <dgm:prSet presAssocID="{805E6320-90F1-4F7F-9EA6-524AB641EED0}" presName="spaceRect" presStyleCnt="0"/>
      <dgm:spPr/>
    </dgm:pt>
    <dgm:pt modelId="{4F4009F6-5563-4C68-8C23-B482FCC0CAE9}" type="pres">
      <dgm:prSet presAssocID="{805E6320-90F1-4F7F-9EA6-524AB641EED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1262D18-0778-4BD1-AD26-0F0C498A91C8}" type="presOf" srcId="{5F68CE17-EAFA-4EC7-AC91-231484CD6369}" destId="{48BAA1BC-BD30-4198-BF4E-008BA1F283E0}" srcOrd="0" destOrd="0" presId="urn:microsoft.com/office/officeart/2018/5/layout/IconCircleLabelList"/>
    <dgm:cxn modelId="{93AC4E5B-0ADC-4518-ADAD-CF15E611EF13}" srcId="{5F68CE17-EAFA-4EC7-AC91-231484CD6369}" destId="{F560DECD-239F-4FF8-AA28-9C3A39B25E25}" srcOrd="0" destOrd="0" parTransId="{B6B6BB62-6F20-42EE-A747-D33C98926FA6}" sibTransId="{10A46669-4DFD-40C4-ACD0-6C8AB90CCCD2}"/>
    <dgm:cxn modelId="{66838E5F-1A0A-4FA8-BF95-C626877FED77}" type="presOf" srcId="{E391EC09-651A-4831-8F4C-40A31462B2FF}" destId="{A2EA03B3-3210-4E92-8CC3-D0DAC9059C63}" srcOrd="0" destOrd="0" presId="urn:microsoft.com/office/officeart/2018/5/layout/IconCircleLabelList"/>
    <dgm:cxn modelId="{49BE8553-298E-411A-B404-F772DA0CD4EC}" type="presOf" srcId="{3EC31753-84DC-403A-A60A-DC9F06680AD9}" destId="{83D0A809-E55C-4DBA-905A-67338CA7B763}" srcOrd="0" destOrd="0" presId="urn:microsoft.com/office/officeart/2018/5/layout/IconCircleLabelList"/>
    <dgm:cxn modelId="{75F3097A-9B5C-4B76-9FD7-F63084E01CE2}" type="presOf" srcId="{F560DECD-239F-4FF8-AA28-9C3A39B25E25}" destId="{29C02978-BFA8-4E10-A808-C584690F892A}" srcOrd="0" destOrd="0" presId="urn:microsoft.com/office/officeart/2018/5/layout/IconCircleLabelList"/>
    <dgm:cxn modelId="{3B414787-44B6-44DC-B9FC-9BCB9502F9B9}" type="presOf" srcId="{805E6320-90F1-4F7F-9EA6-524AB641EED0}" destId="{4F4009F6-5563-4C68-8C23-B482FCC0CAE9}" srcOrd="0" destOrd="0" presId="urn:microsoft.com/office/officeart/2018/5/layout/IconCircleLabelList"/>
    <dgm:cxn modelId="{538EF391-7827-4138-8EA8-7C4A7E7F7957}" srcId="{5F68CE17-EAFA-4EC7-AC91-231484CD6369}" destId="{E391EC09-651A-4831-8F4C-40A31462B2FF}" srcOrd="1" destOrd="0" parTransId="{11C20873-9E17-42F5-A435-54D2C9DCFE00}" sibTransId="{F165354C-EFE9-4CD0-928C-34FE5E78AE5D}"/>
    <dgm:cxn modelId="{746A70A5-B114-451D-A936-0545E8D67B65}" type="presOf" srcId="{EA976CDB-3336-474E-9C8E-A43EA49F6DE6}" destId="{8AF5F83D-2226-4AED-B8CB-032EC2DACBBB}" srcOrd="0" destOrd="0" presId="urn:microsoft.com/office/officeart/2018/5/layout/IconCircleLabelList"/>
    <dgm:cxn modelId="{1A0F22AF-8921-4A29-AB9D-96EE4B59ACAC}" srcId="{5F68CE17-EAFA-4EC7-AC91-231484CD6369}" destId="{EA976CDB-3336-474E-9C8E-A43EA49F6DE6}" srcOrd="3" destOrd="0" parTransId="{C87EF339-7830-40C1-B511-20F9028E19F0}" sibTransId="{7E5D15C0-67DA-4167-A803-4FD39028827D}"/>
    <dgm:cxn modelId="{4468FFC4-2961-4F39-A0D0-8E66A1951B23}" srcId="{5F68CE17-EAFA-4EC7-AC91-231484CD6369}" destId="{3EC31753-84DC-403A-A60A-DC9F06680AD9}" srcOrd="2" destOrd="0" parTransId="{F3A723C9-8D80-4EC8-ABBD-0085719C3D7B}" sibTransId="{3955C6B8-99DB-4ECC-BBFB-6F9D7A8E7EAD}"/>
    <dgm:cxn modelId="{DFBDA5C8-313F-4347-B03E-AF2E72AF620A}" srcId="{5F68CE17-EAFA-4EC7-AC91-231484CD6369}" destId="{805E6320-90F1-4F7F-9EA6-524AB641EED0}" srcOrd="4" destOrd="0" parTransId="{DE0B1B0D-B996-4A4B-B842-799325088FDE}" sibTransId="{7F259AB2-79BE-47E9-A663-423AF1C6DE6E}"/>
    <dgm:cxn modelId="{5B34AA15-A379-48BD-9C4E-FD3188411FB6}" type="presParOf" srcId="{48BAA1BC-BD30-4198-BF4E-008BA1F283E0}" destId="{65450411-D208-4751-93A5-7C9DFD9C4488}" srcOrd="0" destOrd="0" presId="urn:microsoft.com/office/officeart/2018/5/layout/IconCircleLabelList"/>
    <dgm:cxn modelId="{1EDFA5CB-EAE7-4AFE-81DF-9F1531047EB3}" type="presParOf" srcId="{65450411-D208-4751-93A5-7C9DFD9C4488}" destId="{8F1B1AC8-3A24-4E81-920A-2C336B8EA488}" srcOrd="0" destOrd="0" presId="urn:microsoft.com/office/officeart/2018/5/layout/IconCircleLabelList"/>
    <dgm:cxn modelId="{44B86C44-94B4-4E9C-B9B5-AA13E80B68C9}" type="presParOf" srcId="{65450411-D208-4751-93A5-7C9DFD9C4488}" destId="{02BAD77C-8439-4FFF-9524-7F831ECCE42A}" srcOrd="1" destOrd="0" presId="urn:microsoft.com/office/officeart/2018/5/layout/IconCircleLabelList"/>
    <dgm:cxn modelId="{A7B654B3-251F-47D0-9871-854156EC310A}" type="presParOf" srcId="{65450411-D208-4751-93A5-7C9DFD9C4488}" destId="{7D513C6B-BB22-46DD-8877-0C4043B7E6CB}" srcOrd="2" destOrd="0" presId="urn:microsoft.com/office/officeart/2018/5/layout/IconCircleLabelList"/>
    <dgm:cxn modelId="{8F67A07C-B49B-4309-BAD0-11E274861874}" type="presParOf" srcId="{65450411-D208-4751-93A5-7C9DFD9C4488}" destId="{29C02978-BFA8-4E10-A808-C584690F892A}" srcOrd="3" destOrd="0" presId="urn:microsoft.com/office/officeart/2018/5/layout/IconCircleLabelList"/>
    <dgm:cxn modelId="{40B549B2-14B8-4452-BD62-171DBF9D8823}" type="presParOf" srcId="{48BAA1BC-BD30-4198-BF4E-008BA1F283E0}" destId="{B135EA85-1A19-4537-89D3-CA98691EEA9D}" srcOrd="1" destOrd="0" presId="urn:microsoft.com/office/officeart/2018/5/layout/IconCircleLabelList"/>
    <dgm:cxn modelId="{13B92B43-C651-417F-9710-720634272057}" type="presParOf" srcId="{48BAA1BC-BD30-4198-BF4E-008BA1F283E0}" destId="{4E04316E-CCEF-49D2-A8F0-8D0A0F682D9D}" srcOrd="2" destOrd="0" presId="urn:microsoft.com/office/officeart/2018/5/layout/IconCircleLabelList"/>
    <dgm:cxn modelId="{18012D73-CA62-4675-B8FD-5CB9FD80C4E0}" type="presParOf" srcId="{4E04316E-CCEF-49D2-A8F0-8D0A0F682D9D}" destId="{81B3A057-F2F5-4250-B547-AB413DF5B3D4}" srcOrd="0" destOrd="0" presId="urn:microsoft.com/office/officeart/2018/5/layout/IconCircleLabelList"/>
    <dgm:cxn modelId="{A82C1DC1-C717-4D19-8A0D-0DBFF8BE5C0A}" type="presParOf" srcId="{4E04316E-CCEF-49D2-A8F0-8D0A0F682D9D}" destId="{A4BFA428-6960-4C66-A18F-A6B2E197AE13}" srcOrd="1" destOrd="0" presId="urn:microsoft.com/office/officeart/2018/5/layout/IconCircleLabelList"/>
    <dgm:cxn modelId="{C84902A2-C00A-40FB-BF3C-8A82114F139A}" type="presParOf" srcId="{4E04316E-CCEF-49D2-A8F0-8D0A0F682D9D}" destId="{4B8E765B-E28E-4F16-BD58-11AE48E18B5F}" srcOrd="2" destOrd="0" presId="urn:microsoft.com/office/officeart/2018/5/layout/IconCircleLabelList"/>
    <dgm:cxn modelId="{8E965ACA-14E3-4276-B50B-90BE3F14FB1D}" type="presParOf" srcId="{4E04316E-CCEF-49D2-A8F0-8D0A0F682D9D}" destId="{A2EA03B3-3210-4E92-8CC3-D0DAC9059C63}" srcOrd="3" destOrd="0" presId="urn:microsoft.com/office/officeart/2018/5/layout/IconCircleLabelList"/>
    <dgm:cxn modelId="{A02DF091-DFEC-43D5-A331-8B6EC3D3494E}" type="presParOf" srcId="{48BAA1BC-BD30-4198-BF4E-008BA1F283E0}" destId="{8F1DF56A-DA58-4975-8993-74E7DB0D13B3}" srcOrd="3" destOrd="0" presId="urn:microsoft.com/office/officeart/2018/5/layout/IconCircleLabelList"/>
    <dgm:cxn modelId="{B1F7E481-4856-432A-81E2-20C9B3B84FEE}" type="presParOf" srcId="{48BAA1BC-BD30-4198-BF4E-008BA1F283E0}" destId="{D15B7FA5-B0C6-430C-8308-191EC09086B7}" srcOrd="4" destOrd="0" presId="urn:microsoft.com/office/officeart/2018/5/layout/IconCircleLabelList"/>
    <dgm:cxn modelId="{CB41CECB-A7BD-45A5-8B66-9C3A7BE0249A}" type="presParOf" srcId="{D15B7FA5-B0C6-430C-8308-191EC09086B7}" destId="{1E32331B-9753-40AA-AAFE-EAC0AC51E64F}" srcOrd="0" destOrd="0" presId="urn:microsoft.com/office/officeart/2018/5/layout/IconCircleLabelList"/>
    <dgm:cxn modelId="{6107CA81-ED56-4720-AE03-2B2E19FF1D14}" type="presParOf" srcId="{D15B7FA5-B0C6-430C-8308-191EC09086B7}" destId="{6E528D9B-8B2A-4200-B8CF-467A5A718FF4}" srcOrd="1" destOrd="0" presId="urn:microsoft.com/office/officeart/2018/5/layout/IconCircleLabelList"/>
    <dgm:cxn modelId="{78837C1C-CC80-4394-9EFF-550991068D9F}" type="presParOf" srcId="{D15B7FA5-B0C6-430C-8308-191EC09086B7}" destId="{C8957033-65E4-42C8-875F-BEE045B95960}" srcOrd="2" destOrd="0" presId="urn:microsoft.com/office/officeart/2018/5/layout/IconCircleLabelList"/>
    <dgm:cxn modelId="{40E87888-A29B-49FC-8394-6EFF868245E0}" type="presParOf" srcId="{D15B7FA5-B0C6-430C-8308-191EC09086B7}" destId="{83D0A809-E55C-4DBA-905A-67338CA7B763}" srcOrd="3" destOrd="0" presId="urn:microsoft.com/office/officeart/2018/5/layout/IconCircleLabelList"/>
    <dgm:cxn modelId="{6BDCC10A-5DFB-4251-AA96-591DC95741A4}" type="presParOf" srcId="{48BAA1BC-BD30-4198-BF4E-008BA1F283E0}" destId="{67426D72-C22D-4BC7-8DDC-0D3DCB0F865F}" srcOrd="5" destOrd="0" presId="urn:microsoft.com/office/officeart/2018/5/layout/IconCircleLabelList"/>
    <dgm:cxn modelId="{96A4936D-3A13-4CA9-B795-8E3D87098C6C}" type="presParOf" srcId="{48BAA1BC-BD30-4198-BF4E-008BA1F283E0}" destId="{5E742996-D6CB-467C-8845-371FD715AE93}" srcOrd="6" destOrd="0" presId="urn:microsoft.com/office/officeart/2018/5/layout/IconCircleLabelList"/>
    <dgm:cxn modelId="{DB2F89E2-DE40-4C65-93D1-FA5A6959A98C}" type="presParOf" srcId="{5E742996-D6CB-467C-8845-371FD715AE93}" destId="{B721147D-4254-4764-81FF-C960F8603930}" srcOrd="0" destOrd="0" presId="urn:microsoft.com/office/officeart/2018/5/layout/IconCircleLabelList"/>
    <dgm:cxn modelId="{F89A96B1-A89D-480B-97A6-600395E5ACD3}" type="presParOf" srcId="{5E742996-D6CB-467C-8845-371FD715AE93}" destId="{6EA02BE8-464B-4310-AB9C-5941C7428C86}" srcOrd="1" destOrd="0" presId="urn:microsoft.com/office/officeart/2018/5/layout/IconCircleLabelList"/>
    <dgm:cxn modelId="{594E7874-B05E-4B53-B722-0D043660E5F4}" type="presParOf" srcId="{5E742996-D6CB-467C-8845-371FD715AE93}" destId="{742A384D-AC12-4D02-B274-CF8C70E3F526}" srcOrd="2" destOrd="0" presId="urn:microsoft.com/office/officeart/2018/5/layout/IconCircleLabelList"/>
    <dgm:cxn modelId="{15A4AD12-9094-4E0E-9B63-2460F97D39EC}" type="presParOf" srcId="{5E742996-D6CB-467C-8845-371FD715AE93}" destId="{8AF5F83D-2226-4AED-B8CB-032EC2DACBBB}" srcOrd="3" destOrd="0" presId="urn:microsoft.com/office/officeart/2018/5/layout/IconCircleLabelList"/>
    <dgm:cxn modelId="{E993ABCB-DB0F-4224-BE6C-1C0006010336}" type="presParOf" srcId="{48BAA1BC-BD30-4198-BF4E-008BA1F283E0}" destId="{8191968F-FD25-4FE9-813F-B7AFE4A7552B}" srcOrd="7" destOrd="0" presId="urn:microsoft.com/office/officeart/2018/5/layout/IconCircleLabelList"/>
    <dgm:cxn modelId="{2A35E105-CCEF-43CB-9667-A3172E64F9BF}" type="presParOf" srcId="{48BAA1BC-BD30-4198-BF4E-008BA1F283E0}" destId="{1CEEC219-8CE7-4E3D-8BC7-41E904FE13F3}" srcOrd="8" destOrd="0" presId="urn:microsoft.com/office/officeart/2018/5/layout/IconCircleLabelList"/>
    <dgm:cxn modelId="{9B199DE3-D2A0-4B07-83F1-6C372012868B}" type="presParOf" srcId="{1CEEC219-8CE7-4E3D-8BC7-41E904FE13F3}" destId="{DFC995C7-C976-4BB2-AD01-FF5C013FAD5D}" srcOrd="0" destOrd="0" presId="urn:microsoft.com/office/officeart/2018/5/layout/IconCircleLabelList"/>
    <dgm:cxn modelId="{4D0F87CA-9B22-4228-90E4-135DAB875DA9}" type="presParOf" srcId="{1CEEC219-8CE7-4E3D-8BC7-41E904FE13F3}" destId="{83D34F98-E10A-4D76-BF0C-70C24ECE9CD5}" srcOrd="1" destOrd="0" presId="urn:microsoft.com/office/officeart/2018/5/layout/IconCircleLabelList"/>
    <dgm:cxn modelId="{667FD804-3E03-4836-B2FD-450664330BF7}" type="presParOf" srcId="{1CEEC219-8CE7-4E3D-8BC7-41E904FE13F3}" destId="{B2524C08-710D-46A2-AB93-F20021582BC0}" srcOrd="2" destOrd="0" presId="urn:microsoft.com/office/officeart/2018/5/layout/IconCircleLabelList"/>
    <dgm:cxn modelId="{A922F39D-AF0F-404E-B8C5-EC127FBA3CD8}" type="presParOf" srcId="{1CEEC219-8CE7-4E3D-8BC7-41E904FE13F3}" destId="{4F4009F6-5563-4C68-8C23-B482FCC0CAE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9E80301-92E0-4879-96D9-88CCFD04D446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587105D-649C-4DFF-A343-13C4EB4804D1}">
      <dgm:prSet/>
      <dgm:spPr/>
      <dgm:t>
        <a:bodyPr/>
        <a:lstStyle/>
        <a:p>
          <a:r>
            <a:rPr lang="en-US" b="1"/>
            <a:t>Route Optimization</a:t>
          </a:r>
          <a:endParaRPr lang="en-US"/>
        </a:p>
      </dgm:t>
    </dgm:pt>
    <dgm:pt modelId="{DD378EF6-8A1E-4FE1-8E50-62F5268CDC62}" type="parTrans" cxnId="{8B492E21-2CA2-4A47-87E7-4DB2CABCE9C5}">
      <dgm:prSet/>
      <dgm:spPr/>
      <dgm:t>
        <a:bodyPr/>
        <a:lstStyle/>
        <a:p>
          <a:endParaRPr lang="en-US"/>
        </a:p>
      </dgm:t>
    </dgm:pt>
    <dgm:pt modelId="{C875C8DF-91E1-483F-81E1-1D4EE57301B4}" type="sibTrans" cxnId="{8B492E21-2CA2-4A47-87E7-4DB2CABCE9C5}">
      <dgm:prSet/>
      <dgm:spPr/>
      <dgm:t>
        <a:bodyPr/>
        <a:lstStyle/>
        <a:p>
          <a:endParaRPr lang="en-US"/>
        </a:p>
      </dgm:t>
    </dgm:pt>
    <dgm:pt modelId="{9B0F06A4-EC5A-4664-B902-728E4876CB92}">
      <dgm:prSet/>
      <dgm:spPr/>
      <dgm:t>
        <a:bodyPr/>
        <a:lstStyle/>
        <a:p>
          <a:r>
            <a:rPr lang="en-US"/>
            <a:t>Prioritize R002, R007, R008, R006, R015, and R003 for route redesign and performance monitoring. </a:t>
          </a:r>
        </a:p>
      </dgm:t>
    </dgm:pt>
    <dgm:pt modelId="{B66E4FC9-47FB-4B35-A92B-F946B774B43B}" type="parTrans" cxnId="{214354B8-5B1E-4F1F-98E2-0A72592CCFA2}">
      <dgm:prSet/>
      <dgm:spPr/>
      <dgm:t>
        <a:bodyPr/>
        <a:lstStyle/>
        <a:p>
          <a:endParaRPr lang="en-US"/>
        </a:p>
      </dgm:t>
    </dgm:pt>
    <dgm:pt modelId="{237ECA22-309C-4398-99BB-FD0D5EC59EBA}" type="sibTrans" cxnId="{214354B8-5B1E-4F1F-98E2-0A72592CCFA2}">
      <dgm:prSet/>
      <dgm:spPr/>
      <dgm:t>
        <a:bodyPr/>
        <a:lstStyle/>
        <a:p>
          <a:endParaRPr lang="en-US"/>
        </a:p>
      </dgm:t>
    </dgm:pt>
    <dgm:pt modelId="{49AB9C6C-614A-45A3-B751-BDBCB5585A89}">
      <dgm:prSet/>
      <dgm:spPr/>
      <dgm:t>
        <a:bodyPr/>
        <a:lstStyle/>
        <a:p>
          <a:r>
            <a:rPr lang="en-US"/>
            <a:t>Implement dynamic route planning using real-time traffic data. </a:t>
          </a:r>
        </a:p>
      </dgm:t>
    </dgm:pt>
    <dgm:pt modelId="{19E854CF-4E75-47C7-9D8A-729C451F10B8}" type="parTrans" cxnId="{AE08E01E-03E5-4ADD-8CE5-B0A9D16A98B7}">
      <dgm:prSet/>
      <dgm:spPr/>
      <dgm:t>
        <a:bodyPr/>
        <a:lstStyle/>
        <a:p>
          <a:endParaRPr lang="en-US"/>
        </a:p>
      </dgm:t>
    </dgm:pt>
    <dgm:pt modelId="{5DD249A2-7CDB-4AD9-97AA-6AC46620E81A}" type="sibTrans" cxnId="{AE08E01E-03E5-4ADD-8CE5-B0A9D16A98B7}">
      <dgm:prSet/>
      <dgm:spPr/>
      <dgm:t>
        <a:bodyPr/>
        <a:lstStyle/>
        <a:p>
          <a:endParaRPr lang="en-US"/>
        </a:p>
      </dgm:t>
    </dgm:pt>
    <dgm:pt modelId="{E937A0C9-A04B-4E16-9EBA-A54A68E1030C}">
      <dgm:prSet/>
      <dgm:spPr/>
      <dgm:t>
        <a:bodyPr/>
        <a:lstStyle/>
        <a:p>
          <a:r>
            <a:rPr lang="en-US" b="1"/>
            <a:t>Warehouse Optimization</a:t>
          </a:r>
          <a:endParaRPr lang="en-US"/>
        </a:p>
      </dgm:t>
    </dgm:pt>
    <dgm:pt modelId="{5BFB7D09-7427-440B-A9D2-9CDA72359D34}" type="parTrans" cxnId="{06C1DAD5-68DF-46E1-A3A2-51D94AEFBD10}">
      <dgm:prSet/>
      <dgm:spPr/>
      <dgm:t>
        <a:bodyPr/>
        <a:lstStyle/>
        <a:p>
          <a:endParaRPr lang="en-US"/>
        </a:p>
      </dgm:t>
    </dgm:pt>
    <dgm:pt modelId="{CACC5E79-94D5-4288-9939-2447503DADDB}" type="sibTrans" cxnId="{06C1DAD5-68DF-46E1-A3A2-51D94AEFBD10}">
      <dgm:prSet/>
      <dgm:spPr/>
      <dgm:t>
        <a:bodyPr/>
        <a:lstStyle/>
        <a:p>
          <a:endParaRPr lang="en-US"/>
        </a:p>
      </dgm:t>
    </dgm:pt>
    <dgm:pt modelId="{8F618AE0-D3C8-4479-B6F6-573CBCA3B1E7}">
      <dgm:prSet/>
      <dgm:spPr/>
      <dgm:t>
        <a:bodyPr/>
        <a:lstStyle/>
        <a:p>
          <a:r>
            <a:rPr lang="en-US"/>
            <a:t>Reduce pressure on high-delay warehouses through load balancing. </a:t>
          </a:r>
        </a:p>
      </dgm:t>
    </dgm:pt>
    <dgm:pt modelId="{14DB2C37-3ABB-475A-9663-D9824861FC27}" type="parTrans" cxnId="{14F18E71-AC08-4428-95D8-F0F87BF8D2BC}">
      <dgm:prSet/>
      <dgm:spPr/>
      <dgm:t>
        <a:bodyPr/>
        <a:lstStyle/>
        <a:p>
          <a:endParaRPr lang="en-US"/>
        </a:p>
      </dgm:t>
    </dgm:pt>
    <dgm:pt modelId="{A23C4168-173E-452A-8BC5-A536A43B17E6}" type="sibTrans" cxnId="{14F18E71-AC08-4428-95D8-F0F87BF8D2BC}">
      <dgm:prSet/>
      <dgm:spPr/>
      <dgm:t>
        <a:bodyPr/>
        <a:lstStyle/>
        <a:p>
          <a:endParaRPr lang="en-US"/>
        </a:p>
      </dgm:t>
    </dgm:pt>
    <dgm:pt modelId="{DAA7A94F-7A8E-4488-80C0-C01BE16F1F55}">
      <dgm:prSet/>
      <dgm:spPr/>
      <dgm:t>
        <a:bodyPr/>
        <a:lstStyle/>
        <a:p>
          <a:r>
            <a:rPr lang="en-US"/>
            <a:t>Replicate best practices from better-performing facilities. </a:t>
          </a:r>
        </a:p>
      </dgm:t>
    </dgm:pt>
    <dgm:pt modelId="{6E49D528-4D98-4A86-B7D5-38643E652F46}" type="parTrans" cxnId="{054F2C61-37D2-488C-A97C-B87C271A64E1}">
      <dgm:prSet/>
      <dgm:spPr/>
      <dgm:t>
        <a:bodyPr/>
        <a:lstStyle/>
        <a:p>
          <a:endParaRPr lang="en-US"/>
        </a:p>
      </dgm:t>
    </dgm:pt>
    <dgm:pt modelId="{98AD82C3-3BEA-473C-BF12-13EF1CE2561F}" type="sibTrans" cxnId="{054F2C61-37D2-488C-A97C-B87C271A64E1}">
      <dgm:prSet/>
      <dgm:spPr/>
      <dgm:t>
        <a:bodyPr/>
        <a:lstStyle/>
        <a:p>
          <a:endParaRPr lang="en-US"/>
        </a:p>
      </dgm:t>
    </dgm:pt>
    <dgm:pt modelId="{C8E97605-D6E1-406D-9E48-E7CC0CBD7E4F}">
      <dgm:prSet/>
      <dgm:spPr/>
      <dgm:t>
        <a:bodyPr/>
        <a:lstStyle/>
        <a:p>
          <a:r>
            <a:rPr lang="en-US" b="1"/>
            <a:t>Delay Reduction Strategy</a:t>
          </a:r>
          <a:endParaRPr lang="en-US"/>
        </a:p>
      </dgm:t>
    </dgm:pt>
    <dgm:pt modelId="{C110F5FF-3C07-47B5-9F69-6E4FD05629B1}" type="parTrans" cxnId="{FCB2875A-4BC6-4616-9325-54B11A894EA0}">
      <dgm:prSet/>
      <dgm:spPr/>
      <dgm:t>
        <a:bodyPr/>
        <a:lstStyle/>
        <a:p>
          <a:endParaRPr lang="en-US"/>
        </a:p>
      </dgm:t>
    </dgm:pt>
    <dgm:pt modelId="{0D0DC9A6-2BFF-4110-AD4B-4939AC72E2A7}" type="sibTrans" cxnId="{FCB2875A-4BC6-4616-9325-54B11A894EA0}">
      <dgm:prSet/>
      <dgm:spPr/>
      <dgm:t>
        <a:bodyPr/>
        <a:lstStyle/>
        <a:p>
          <a:endParaRPr lang="en-US"/>
        </a:p>
      </dgm:t>
    </dgm:pt>
    <dgm:pt modelId="{16FCBE3B-48D1-4C8C-8539-7157CB6C0764}">
      <dgm:prSet/>
      <dgm:spPr/>
      <dgm:t>
        <a:bodyPr/>
        <a:lstStyle/>
        <a:p>
          <a:r>
            <a:rPr lang="en-US"/>
            <a:t>Introduce predictive delay alerts for high-risk routes. </a:t>
          </a:r>
        </a:p>
      </dgm:t>
    </dgm:pt>
    <dgm:pt modelId="{2865A6FB-69A0-4B7C-8A1B-3EFBBE9B49E4}" type="parTrans" cxnId="{76BB2E8A-6E0E-4919-871C-27C25AC0D17F}">
      <dgm:prSet/>
      <dgm:spPr/>
      <dgm:t>
        <a:bodyPr/>
        <a:lstStyle/>
        <a:p>
          <a:endParaRPr lang="en-US"/>
        </a:p>
      </dgm:t>
    </dgm:pt>
    <dgm:pt modelId="{6A07C746-5772-437C-B60E-DAD01A1030C0}" type="sibTrans" cxnId="{76BB2E8A-6E0E-4919-871C-27C25AC0D17F}">
      <dgm:prSet/>
      <dgm:spPr/>
      <dgm:t>
        <a:bodyPr/>
        <a:lstStyle/>
        <a:p>
          <a:endParaRPr lang="en-US"/>
        </a:p>
      </dgm:t>
    </dgm:pt>
    <dgm:pt modelId="{67357730-BCEF-4FCB-9FB6-F63D6BEAB88B}">
      <dgm:prSet/>
      <dgm:spPr/>
      <dgm:t>
        <a:bodyPr/>
        <a:lstStyle/>
        <a:p>
          <a:r>
            <a:rPr lang="en-US"/>
            <a:t>Strengthen plans for traffic and weather disruptions. . </a:t>
          </a:r>
        </a:p>
      </dgm:t>
    </dgm:pt>
    <dgm:pt modelId="{06208E9C-A90D-44CB-BE15-98F06A60A923}" type="parTrans" cxnId="{D971C7C4-54DB-4259-A046-358416D69D32}">
      <dgm:prSet/>
      <dgm:spPr/>
      <dgm:t>
        <a:bodyPr/>
        <a:lstStyle/>
        <a:p>
          <a:endParaRPr lang="en-US"/>
        </a:p>
      </dgm:t>
    </dgm:pt>
    <dgm:pt modelId="{A6F7B1DF-E4DF-4F0E-988D-4E617DB8F5FF}" type="sibTrans" cxnId="{D971C7C4-54DB-4259-A046-358416D69D32}">
      <dgm:prSet/>
      <dgm:spPr/>
      <dgm:t>
        <a:bodyPr/>
        <a:lstStyle/>
        <a:p>
          <a:endParaRPr lang="en-US"/>
        </a:p>
      </dgm:t>
    </dgm:pt>
    <dgm:pt modelId="{83EC0D6C-888A-47C8-BC84-6BCEF0D8E2A1}">
      <dgm:prSet/>
      <dgm:spPr/>
      <dgm:t>
        <a:bodyPr/>
        <a:lstStyle/>
        <a:p>
          <a:r>
            <a:rPr lang="en-US" b="1"/>
            <a:t>Service Reliability Improvement</a:t>
          </a:r>
          <a:endParaRPr lang="en-US"/>
        </a:p>
      </dgm:t>
    </dgm:pt>
    <dgm:pt modelId="{6C92D4FD-91B2-43BC-A653-9D9914D8BF44}" type="parTrans" cxnId="{479F369D-CFB5-41FB-B9C1-FD54A218459B}">
      <dgm:prSet/>
      <dgm:spPr/>
      <dgm:t>
        <a:bodyPr/>
        <a:lstStyle/>
        <a:p>
          <a:endParaRPr lang="en-US"/>
        </a:p>
      </dgm:t>
    </dgm:pt>
    <dgm:pt modelId="{E9C45AD2-69DF-4727-ADE7-1569505CD38F}" type="sibTrans" cxnId="{479F369D-CFB5-41FB-B9C1-FD54A218459B}">
      <dgm:prSet/>
      <dgm:spPr/>
      <dgm:t>
        <a:bodyPr/>
        <a:lstStyle/>
        <a:p>
          <a:endParaRPr lang="en-US"/>
        </a:p>
      </dgm:t>
    </dgm:pt>
    <dgm:pt modelId="{F1236E5E-7068-49C0-B821-965684182542}">
      <dgm:prSet/>
      <dgm:spPr/>
      <dgm:t>
        <a:bodyPr/>
        <a:lstStyle/>
        <a:p>
          <a:r>
            <a:rPr lang="en-US"/>
            <a:t>Establish route-specific KPIs and performance dashboards. </a:t>
          </a:r>
        </a:p>
      </dgm:t>
    </dgm:pt>
    <dgm:pt modelId="{809D4FBB-16DD-447E-AACE-B2FB172440FA}" type="parTrans" cxnId="{29BE7B16-AF47-45C7-AB47-965679FA3ADB}">
      <dgm:prSet/>
      <dgm:spPr/>
      <dgm:t>
        <a:bodyPr/>
        <a:lstStyle/>
        <a:p>
          <a:endParaRPr lang="en-US"/>
        </a:p>
      </dgm:t>
    </dgm:pt>
    <dgm:pt modelId="{AA1BAC49-DD7D-4283-9FEF-B748228DA268}" type="sibTrans" cxnId="{29BE7B16-AF47-45C7-AB47-965679FA3ADB}">
      <dgm:prSet/>
      <dgm:spPr/>
      <dgm:t>
        <a:bodyPr/>
        <a:lstStyle/>
        <a:p>
          <a:endParaRPr lang="en-US"/>
        </a:p>
      </dgm:t>
    </dgm:pt>
    <dgm:pt modelId="{6B8965BB-BB4D-4366-9187-372440BD46F5}">
      <dgm:prSet/>
      <dgm:spPr/>
      <dgm:t>
        <a:bodyPr/>
        <a:lstStyle/>
        <a:p>
          <a:r>
            <a:rPr lang="en-US"/>
            <a:t>Monitor delayed shipment percentages, transit efficiency, and warehouse performance continuously.</a:t>
          </a:r>
        </a:p>
      </dgm:t>
    </dgm:pt>
    <dgm:pt modelId="{2D38EC11-0C8A-4596-B3D3-2743714C6ADB}" type="parTrans" cxnId="{758270CF-8CF9-487B-A509-B8F7D215C051}">
      <dgm:prSet/>
      <dgm:spPr/>
      <dgm:t>
        <a:bodyPr/>
        <a:lstStyle/>
        <a:p>
          <a:endParaRPr lang="en-US"/>
        </a:p>
      </dgm:t>
    </dgm:pt>
    <dgm:pt modelId="{D574E405-F990-49DF-8FBF-2E8EC809AE81}" type="sibTrans" cxnId="{758270CF-8CF9-487B-A509-B8F7D215C051}">
      <dgm:prSet/>
      <dgm:spPr/>
      <dgm:t>
        <a:bodyPr/>
        <a:lstStyle/>
        <a:p>
          <a:endParaRPr lang="en-US"/>
        </a:p>
      </dgm:t>
    </dgm:pt>
    <dgm:pt modelId="{EF95FCE2-89FF-4701-920C-FFCDF2FD53D7}" type="pres">
      <dgm:prSet presAssocID="{F9E80301-92E0-4879-96D9-88CCFD04D446}" presName="diagram" presStyleCnt="0">
        <dgm:presLayoutVars>
          <dgm:dir/>
          <dgm:resizeHandles val="exact"/>
        </dgm:presLayoutVars>
      </dgm:prSet>
      <dgm:spPr/>
    </dgm:pt>
    <dgm:pt modelId="{B2CD6AD3-D587-4710-BB46-93ABBD50BF8D}" type="pres">
      <dgm:prSet presAssocID="{1587105D-649C-4DFF-A343-13C4EB4804D1}" presName="node" presStyleLbl="node1" presStyleIdx="0" presStyleCnt="4">
        <dgm:presLayoutVars>
          <dgm:bulletEnabled val="1"/>
        </dgm:presLayoutVars>
      </dgm:prSet>
      <dgm:spPr/>
    </dgm:pt>
    <dgm:pt modelId="{AF5B7F76-D53B-4D18-AF84-3C1A687234DA}" type="pres">
      <dgm:prSet presAssocID="{C875C8DF-91E1-483F-81E1-1D4EE57301B4}" presName="sibTrans" presStyleCnt="0"/>
      <dgm:spPr/>
    </dgm:pt>
    <dgm:pt modelId="{89CB6335-66B7-42B3-A2A7-D6045FFCAC6A}" type="pres">
      <dgm:prSet presAssocID="{E937A0C9-A04B-4E16-9EBA-A54A68E1030C}" presName="node" presStyleLbl="node1" presStyleIdx="1" presStyleCnt="4">
        <dgm:presLayoutVars>
          <dgm:bulletEnabled val="1"/>
        </dgm:presLayoutVars>
      </dgm:prSet>
      <dgm:spPr/>
    </dgm:pt>
    <dgm:pt modelId="{C552316B-0930-4C14-8DB5-BEE7A968C711}" type="pres">
      <dgm:prSet presAssocID="{CACC5E79-94D5-4288-9939-2447503DADDB}" presName="sibTrans" presStyleCnt="0"/>
      <dgm:spPr/>
    </dgm:pt>
    <dgm:pt modelId="{B8E69E45-3F68-46D0-8E19-EFA7AE293DB6}" type="pres">
      <dgm:prSet presAssocID="{C8E97605-D6E1-406D-9E48-E7CC0CBD7E4F}" presName="node" presStyleLbl="node1" presStyleIdx="2" presStyleCnt="4">
        <dgm:presLayoutVars>
          <dgm:bulletEnabled val="1"/>
        </dgm:presLayoutVars>
      </dgm:prSet>
      <dgm:spPr/>
    </dgm:pt>
    <dgm:pt modelId="{0243BB23-F580-4035-98CF-BC25926E37F6}" type="pres">
      <dgm:prSet presAssocID="{0D0DC9A6-2BFF-4110-AD4B-4939AC72E2A7}" presName="sibTrans" presStyleCnt="0"/>
      <dgm:spPr/>
    </dgm:pt>
    <dgm:pt modelId="{A76A073A-4949-47B5-A4A7-F05F0A132A42}" type="pres">
      <dgm:prSet presAssocID="{83EC0D6C-888A-47C8-BC84-6BCEF0D8E2A1}" presName="node" presStyleLbl="node1" presStyleIdx="3" presStyleCnt="4">
        <dgm:presLayoutVars>
          <dgm:bulletEnabled val="1"/>
        </dgm:presLayoutVars>
      </dgm:prSet>
      <dgm:spPr/>
    </dgm:pt>
  </dgm:ptLst>
  <dgm:cxnLst>
    <dgm:cxn modelId="{29BE7B16-AF47-45C7-AB47-965679FA3ADB}" srcId="{83EC0D6C-888A-47C8-BC84-6BCEF0D8E2A1}" destId="{F1236E5E-7068-49C0-B821-965684182542}" srcOrd="0" destOrd="0" parTransId="{809D4FBB-16DD-447E-AACE-B2FB172440FA}" sibTransId="{AA1BAC49-DD7D-4283-9FEF-B748228DA268}"/>
    <dgm:cxn modelId="{AE08E01E-03E5-4ADD-8CE5-B0A9D16A98B7}" srcId="{1587105D-649C-4DFF-A343-13C4EB4804D1}" destId="{49AB9C6C-614A-45A3-B751-BDBCB5585A89}" srcOrd="1" destOrd="0" parTransId="{19E854CF-4E75-47C7-9D8A-729C451F10B8}" sibTransId="{5DD249A2-7CDB-4AD9-97AA-6AC46620E81A}"/>
    <dgm:cxn modelId="{423D211F-C359-4B71-B166-D9C8F10CFE94}" type="presOf" srcId="{DAA7A94F-7A8E-4488-80C0-C01BE16F1F55}" destId="{89CB6335-66B7-42B3-A2A7-D6045FFCAC6A}" srcOrd="0" destOrd="2" presId="urn:microsoft.com/office/officeart/2005/8/layout/default"/>
    <dgm:cxn modelId="{6F3E2C20-A0DE-4DA6-87A9-BA0506D4FD73}" type="presOf" srcId="{9B0F06A4-EC5A-4664-B902-728E4876CB92}" destId="{B2CD6AD3-D587-4710-BB46-93ABBD50BF8D}" srcOrd="0" destOrd="1" presId="urn:microsoft.com/office/officeart/2005/8/layout/default"/>
    <dgm:cxn modelId="{8B492E21-2CA2-4A47-87E7-4DB2CABCE9C5}" srcId="{F9E80301-92E0-4879-96D9-88CCFD04D446}" destId="{1587105D-649C-4DFF-A343-13C4EB4804D1}" srcOrd="0" destOrd="0" parTransId="{DD378EF6-8A1E-4FE1-8E50-62F5268CDC62}" sibTransId="{C875C8DF-91E1-483F-81E1-1D4EE57301B4}"/>
    <dgm:cxn modelId="{418C1F26-5F6E-4187-B176-8166223B3F29}" type="presOf" srcId="{49AB9C6C-614A-45A3-B751-BDBCB5585A89}" destId="{B2CD6AD3-D587-4710-BB46-93ABBD50BF8D}" srcOrd="0" destOrd="2" presId="urn:microsoft.com/office/officeart/2005/8/layout/default"/>
    <dgm:cxn modelId="{227D8234-27DF-4C67-BAB0-59C60831F5BA}" type="presOf" srcId="{F9E80301-92E0-4879-96D9-88CCFD04D446}" destId="{EF95FCE2-89FF-4701-920C-FFCDF2FD53D7}" srcOrd="0" destOrd="0" presId="urn:microsoft.com/office/officeart/2005/8/layout/default"/>
    <dgm:cxn modelId="{BB509436-BF10-4061-B5FC-C84E587A3742}" type="presOf" srcId="{C8E97605-D6E1-406D-9E48-E7CC0CBD7E4F}" destId="{B8E69E45-3F68-46D0-8E19-EFA7AE293DB6}" srcOrd="0" destOrd="0" presId="urn:microsoft.com/office/officeart/2005/8/layout/default"/>
    <dgm:cxn modelId="{800A4B39-B206-413C-B3D9-BDDF9D8D52EE}" type="presOf" srcId="{1587105D-649C-4DFF-A343-13C4EB4804D1}" destId="{B2CD6AD3-D587-4710-BB46-93ABBD50BF8D}" srcOrd="0" destOrd="0" presId="urn:microsoft.com/office/officeart/2005/8/layout/default"/>
    <dgm:cxn modelId="{054F2C61-37D2-488C-A97C-B87C271A64E1}" srcId="{E937A0C9-A04B-4E16-9EBA-A54A68E1030C}" destId="{DAA7A94F-7A8E-4488-80C0-C01BE16F1F55}" srcOrd="1" destOrd="0" parTransId="{6E49D528-4D98-4A86-B7D5-38643E652F46}" sibTransId="{98AD82C3-3BEA-473C-BF12-13EF1CE2561F}"/>
    <dgm:cxn modelId="{82C1AC49-BEB0-49EC-ACA1-DD827DC12FE6}" type="presOf" srcId="{E937A0C9-A04B-4E16-9EBA-A54A68E1030C}" destId="{89CB6335-66B7-42B3-A2A7-D6045FFCAC6A}" srcOrd="0" destOrd="0" presId="urn:microsoft.com/office/officeart/2005/8/layout/default"/>
    <dgm:cxn modelId="{E2003C71-0A63-45ED-8654-0EE1ECB7B797}" type="presOf" srcId="{16FCBE3B-48D1-4C8C-8539-7157CB6C0764}" destId="{B8E69E45-3F68-46D0-8E19-EFA7AE293DB6}" srcOrd="0" destOrd="1" presId="urn:microsoft.com/office/officeart/2005/8/layout/default"/>
    <dgm:cxn modelId="{14F18E71-AC08-4428-95D8-F0F87BF8D2BC}" srcId="{E937A0C9-A04B-4E16-9EBA-A54A68E1030C}" destId="{8F618AE0-D3C8-4479-B6F6-573CBCA3B1E7}" srcOrd="0" destOrd="0" parTransId="{14DB2C37-3ABB-475A-9663-D9824861FC27}" sibTransId="{A23C4168-173E-452A-8BC5-A536A43B17E6}"/>
    <dgm:cxn modelId="{3E962F57-7A48-4A51-9D16-1164D6C91BB1}" type="presOf" srcId="{8F618AE0-D3C8-4479-B6F6-573CBCA3B1E7}" destId="{89CB6335-66B7-42B3-A2A7-D6045FFCAC6A}" srcOrd="0" destOrd="1" presId="urn:microsoft.com/office/officeart/2005/8/layout/default"/>
    <dgm:cxn modelId="{FCB2875A-4BC6-4616-9325-54B11A894EA0}" srcId="{F9E80301-92E0-4879-96D9-88CCFD04D446}" destId="{C8E97605-D6E1-406D-9E48-E7CC0CBD7E4F}" srcOrd="2" destOrd="0" parTransId="{C110F5FF-3C07-47B5-9F69-6E4FD05629B1}" sibTransId="{0D0DC9A6-2BFF-4110-AD4B-4939AC72E2A7}"/>
    <dgm:cxn modelId="{CDC92E88-8FC4-46C4-A887-761EC5FE934B}" type="presOf" srcId="{67357730-BCEF-4FCB-9FB6-F63D6BEAB88B}" destId="{B8E69E45-3F68-46D0-8E19-EFA7AE293DB6}" srcOrd="0" destOrd="2" presId="urn:microsoft.com/office/officeart/2005/8/layout/default"/>
    <dgm:cxn modelId="{76BB2E8A-6E0E-4919-871C-27C25AC0D17F}" srcId="{C8E97605-D6E1-406D-9E48-E7CC0CBD7E4F}" destId="{16FCBE3B-48D1-4C8C-8539-7157CB6C0764}" srcOrd="0" destOrd="0" parTransId="{2865A6FB-69A0-4B7C-8A1B-3EFBBE9B49E4}" sibTransId="{6A07C746-5772-437C-B60E-DAD01A1030C0}"/>
    <dgm:cxn modelId="{479F369D-CFB5-41FB-B9C1-FD54A218459B}" srcId="{F9E80301-92E0-4879-96D9-88CCFD04D446}" destId="{83EC0D6C-888A-47C8-BC84-6BCEF0D8E2A1}" srcOrd="3" destOrd="0" parTransId="{6C92D4FD-91B2-43BC-A653-9D9914D8BF44}" sibTransId="{E9C45AD2-69DF-4727-ADE7-1569505CD38F}"/>
    <dgm:cxn modelId="{AA570DA2-BA48-4A98-9477-69907891128E}" type="presOf" srcId="{83EC0D6C-888A-47C8-BC84-6BCEF0D8E2A1}" destId="{A76A073A-4949-47B5-A4A7-F05F0A132A42}" srcOrd="0" destOrd="0" presId="urn:microsoft.com/office/officeart/2005/8/layout/default"/>
    <dgm:cxn modelId="{9C2E0BB2-07CD-4A91-ACAA-07F4FE60E221}" type="presOf" srcId="{F1236E5E-7068-49C0-B821-965684182542}" destId="{A76A073A-4949-47B5-A4A7-F05F0A132A42}" srcOrd="0" destOrd="1" presId="urn:microsoft.com/office/officeart/2005/8/layout/default"/>
    <dgm:cxn modelId="{214354B8-5B1E-4F1F-98E2-0A72592CCFA2}" srcId="{1587105D-649C-4DFF-A343-13C4EB4804D1}" destId="{9B0F06A4-EC5A-4664-B902-728E4876CB92}" srcOrd="0" destOrd="0" parTransId="{B66E4FC9-47FB-4B35-A92B-F946B774B43B}" sibTransId="{237ECA22-309C-4398-99BB-FD0D5EC59EBA}"/>
    <dgm:cxn modelId="{D971C7C4-54DB-4259-A046-358416D69D32}" srcId="{C8E97605-D6E1-406D-9E48-E7CC0CBD7E4F}" destId="{67357730-BCEF-4FCB-9FB6-F63D6BEAB88B}" srcOrd="1" destOrd="0" parTransId="{06208E9C-A90D-44CB-BE15-98F06A60A923}" sibTransId="{A6F7B1DF-E4DF-4F0E-988D-4E617DB8F5FF}"/>
    <dgm:cxn modelId="{758270CF-8CF9-487B-A509-B8F7D215C051}" srcId="{83EC0D6C-888A-47C8-BC84-6BCEF0D8E2A1}" destId="{6B8965BB-BB4D-4366-9187-372440BD46F5}" srcOrd="1" destOrd="0" parTransId="{2D38EC11-0C8A-4596-B3D3-2743714C6ADB}" sibTransId="{D574E405-F990-49DF-8FBF-2E8EC809AE81}"/>
    <dgm:cxn modelId="{06C1DAD5-68DF-46E1-A3A2-51D94AEFBD10}" srcId="{F9E80301-92E0-4879-96D9-88CCFD04D446}" destId="{E937A0C9-A04B-4E16-9EBA-A54A68E1030C}" srcOrd="1" destOrd="0" parTransId="{5BFB7D09-7427-440B-A9D2-9CDA72359D34}" sibTransId="{CACC5E79-94D5-4288-9939-2447503DADDB}"/>
    <dgm:cxn modelId="{879178E1-C431-4A41-BB12-D655DBC0AD18}" type="presOf" srcId="{6B8965BB-BB4D-4366-9187-372440BD46F5}" destId="{A76A073A-4949-47B5-A4A7-F05F0A132A42}" srcOrd="0" destOrd="2" presId="urn:microsoft.com/office/officeart/2005/8/layout/default"/>
    <dgm:cxn modelId="{20492B50-E324-4857-90A0-FD10E74F3287}" type="presParOf" srcId="{EF95FCE2-89FF-4701-920C-FFCDF2FD53D7}" destId="{B2CD6AD3-D587-4710-BB46-93ABBD50BF8D}" srcOrd="0" destOrd="0" presId="urn:microsoft.com/office/officeart/2005/8/layout/default"/>
    <dgm:cxn modelId="{6F5F2FB9-2519-4C2D-AE07-59C031F64C08}" type="presParOf" srcId="{EF95FCE2-89FF-4701-920C-FFCDF2FD53D7}" destId="{AF5B7F76-D53B-4D18-AF84-3C1A687234DA}" srcOrd="1" destOrd="0" presId="urn:microsoft.com/office/officeart/2005/8/layout/default"/>
    <dgm:cxn modelId="{10435550-E243-4DF1-B882-D942F6D90E7C}" type="presParOf" srcId="{EF95FCE2-89FF-4701-920C-FFCDF2FD53D7}" destId="{89CB6335-66B7-42B3-A2A7-D6045FFCAC6A}" srcOrd="2" destOrd="0" presId="urn:microsoft.com/office/officeart/2005/8/layout/default"/>
    <dgm:cxn modelId="{84C7E9EE-9CC6-4A93-B1B4-11800CB24888}" type="presParOf" srcId="{EF95FCE2-89FF-4701-920C-FFCDF2FD53D7}" destId="{C552316B-0930-4C14-8DB5-BEE7A968C711}" srcOrd="3" destOrd="0" presId="urn:microsoft.com/office/officeart/2005/8/layout/default"/>
    <dgm:cxn modelId="{C7CEB73E-CB20-436C-9B8E-57466A93CF6B}" type="presParOf" srcId="{EF95FCE2-89FF-4701-920C-FFCDF2FD53D7}" destId="{B8E69E45-3F68-46D0-8E19-EFA7AE293DB6}" srcOrd="4" destOrd="0" presId="urn:microsoft.com/office/officeart/2005/8/layout/default"/>
    <dgm:cxn modelId="{BAB408AF-00F9-4653-B71F-0483F954B802}" type="presParOf" srcId="{EF95FCE2-89FF-4701-920C-FFCDF2FD53D7}" destId="{0243BB23-F580-4035-98CF-BC25926E37F6}" srcOrd="5" destOrd="0" presId="urn:microsoft.com/office/officeart/2005/8/layout/default"/>
    <dgm:cxn modelId="{91035474-F97C-4D1A-98DB-A210B2E8D94A}" type="presParOf" srcId="{EF95FCE2-89FF-4701-920C-FFCDF2FD53D7}" destId="{A76A073A-4949-47B5-A4A7-F05F0A132A42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E01139-A030-475B-894C-CE85AE83D3A0}">
      <dsp:nvSpPr>
        <dsp:cNvPr id="0" name=""/>
        <dsp:cNvSpPr/>
      </dsp:nvSpPr>
      <dsp:spPr>
        <a:xfrm>
          <a:off x="31534" y="604035"/>
          <a:ext cx="971914" cy="97191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8B5E2C-F15B-4A8F-9382-94AD46594D77}">
      <dsp:nvSpPr>
        <dsp:cNvPr id="0" name=""/>
        <dsp:cNvSpPr/>
      </dsp:nvSpPr>
      <dsp:spPr>
        <a:xfrm>
          <a:off x="235636" y="808137"/>
          <a:ext cx="563710" cy="56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3639E7-4BFD-422D-AF55-42B3E750F753}">
      <dsp:nvSpPr>
        <dsp:cNvPr id="0" name=""/>
        <dsp:cNvSpPr/>
      </dsp:nvSpPr>
      <dsp:spPr>
        <a:xfrm>
          <a:off x="1211716" y="604035"/>
          <a:ext cx="2290942" cy="971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Analyze shipment delays </a:t>
          </a:r>
          <a:r>
            <a:rPr lang="en-GB" sz="1700" kern="1200"/>
            <a:t>patterns and operational inefficiencies</a:t>
          </a:r>
          <a:endParaRPr lang="en-US" sz="1700" kern="1200"/>
        </a:p>
      </dsp:txBody>
      <dsp:txXfrm>
        <a:off x="1211716" y="604035"/>
        <a:ext cx="2290942" cy="971914"/>
      </dsp:txXfrm>
    </dsp:sp>
    <dsp:sp modelId="{BECA9321-2D23-4671-9F5C-0B8F424A9E8F}">
      <dsp:nvSpPr>
        <dsp:cNvPr id="0" name=""/>
        <dsp:cNvSpPr/>
      </dsp:nvSpPr>
      <dsp:spPr>
        <a:xfrm>
          <a:off x="3901838" y="604035"/>
          <a:ext cx="971914" cy="97191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700F95-2895-4472-A81E-6A505135A183}">
      <dsp:nvSpPr>
        <dsp:cNvPr id="0" name=""/>
        <dsp:cNvSpPr/>
      </dsp:nvSpPr>
      <dsp:spPr>
        <a:xfrm>
          <a:off x="4105940" y="808137"/>
          <a:ext cx="563710" cy="56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3827D2-4E66-4417-80A1-9E8D98118935}">
      <dsp:nvSpPr>
        <dsp:cNvPr id="0" name=""/>
        <dsp:cNvSpPr/>
      </dsp:nvSpPr>
      <dsp:spPr>
        <a:xfrm>
          <a:off x="5082020" y="604035"/>
          <a:ext cx="2290942" cy="971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Optimize route efficiency for improved transit time</a:t>
          </a:r>
        </a:p>
      </dsp:txBody>
      <dsp:txXfrm>
        <a:off x="5082020" y="604035"/>
        <a:ext cx="2290942" cy="971914"/>
      </dsp:txXfrm>
    </dsp:sp>
    <dsp:sp modelId="{6AC3F68F-DA15-42CA-A160-1A5A8D418317}">
      <dsp:nvSpPr>
        <dsp:cNvPr id="0" name=""/>
        <dsp:cNvSpPr/>
      </dsp:nvSpPr>
      <dsp:spPr>
        <a:xfrm>
          <a:off x="31534" y="2221519"/>
          <a:ext cx="971914" cy="97191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448E8E-8277-46FB-AA10-36085A0CC4E7}">
      <dsp:nvSpPr>
        <dsp:cNvPr id="0" name=""/>
        <dsp:cNvSpPr/>
      </dsp:nvSpPr>
      <dsp:spPr>
        <a:xfrm>
          <a:off x="235636" y="2425622"/>
          <a:ext cx="563710" cy="56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DEE0B3-B57C-43E2-8F9C-BD7571C77269}">
      <dsp:nvSpPr>
        <dsp:cNvPr id="0" name=""/>
        <dsp:cNvSpPr/>
      </dsp:nvSpPr>
      <dsp:spPr>
        <a:xfrm>
          <a:off x="1211716" y="2221519"/>
          <a:ext cx="2290942" cy="971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Evaluate warehouse and agent performance</a:t>
          </a:r>
        </a:p>
      </dsp:txBody>
      <dsp:txXfrm>
        <a:off x="1211716" y="2221519"/>
        <a:ext cx="2290942" cy="971914"/>
      </dsp:txXfrm>
    </dsp:sp>
    <dsp:sp modelId="{0D279F8F-6254-4C10-8E37-4FFD8FF2B3FA}">
      <dsp:nvSpPr>
        <dsp:cNvPr id="0" name=""/>
        <dsp:cNvSpPr/>
      </dsp:nvSpPr>
      <dsp:spPr>
        <a:xfrm>
          <a:off x="3901838" y="2221519"/>
          <a:ext cx="971914" cy="97191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3792E5-E3CD-46BB-8CF1-9C7DF2EF6E74}">
      <dsp:nvSpPr>
        <dsp:cNvPr id="0" name=""/>
        <dsp:cNvSpPr/>
      </dsp:nvSpPr>
      <dsp:spPr>
        <a:xfrm>
          <a:off x="4105940" y="2425622"/>
          <a:ext cx="563710" cy="56371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65E0A-6D84-46B0-8108-88A79A6B4FF0}">
      <dsp:nvSpPr>
        <dsp:cNvPr id="0" name=""/>
        <dsp:cNvSpPr/>
      </dsp:nvSpPr>
      <dsp:spPr>
        <a:xfrm>
          <a:off x="5082020" y="2221519"/>
          <a:ext cx="2290942" cy="971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Generate insights to improve on-time delivery</a:t>
          </a:r>
        </a:p>
      </dsp:txBody>
      <dsp:txXfrm>
        <a:off x="5082020" y="2221519"/>
        <a:ext cx="2290942" cy="9719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1B1AC8-3A24-4E81-920A-2C336B8EA488}">
      <dsp:nvSpPr>
        <dsp:cNvPr id="0" name=""/>
        <dsp:cNvSpPr/>
      </dsp:nvSpPr>
      <dsp:spPr>
        <a:xfrm>
          <a:off x="740312" y="517"/>
          <a:ext cx="873896" cy="87389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BAD77C-8439-4FFF-9524-7F831ECCE42A}">
      <dsp:nvSpPr>
        <dsp:cNvPr id="0" name=""/>
        <dsp:cNvSpPr/>
      </dsp:nvSpPr>
      <dsp:spPr>
        <a:xfrm>
          <a:off x="926552" y="186757"/>
          <a:ext cx="501416" cy="5014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C02978-BFA8-4E10-A808-C584690F892A}">
      <dsp:nvSpPr>
        <dsp:cNvPr id="0" name=""/>
        <dsp:cNvSpPr/>
      </dsp:nvSpPr>
      <dsp:spPr>
        <a:xfrm>
          <a:off x="460952" y="1146610"/>
          <a:ext cx="1432617" cy="573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Orders</a:t>
          </a:r>
        </a:p>
      </dsp:txBody>
      <dsp:txXfrm>
        <a:off x="460952" y="1146610"/>
        <a:ext cx="1432617" cy="573046"/>
      </dsp:txXfrm>
    </dsp:sp>
    <dsp:sp modelId="{81B3A057-F2F5-4250-B547-AB413DF5B3D4}">
      <dsp:nvSpPr>
        <dsp:cNvPr id="0" name=""/>
        <dsp:cNvSpPr/>
      </dsp:nvSpPr>
      <dsp:spPr>
        <a:xfrm>
          <a:off x="2423637" y="517"/>
          <a:ext cx="873896" cy="87389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BFA428-6960-4C66-A18F-A6B2E197AE13}">
      <dsp:nvSpPr>
        <dsp:cNvPr id="0" name=""/>
        <dsp:cNvSpPr/>
      </dsp:nvSpPr>
      <dsp:spPr>
        <a:xfrm>
          <a:off x="2609877" y="186757"/>
          <a:ext cx="501416" cy="5014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EA03B3-3210-4E92-8CC3-D0DAC9059C63}">
      <dsp:nvSpPr>
        <dsp:cNvPr id="0" name=""/>
        <dsp:cNvSpPr/>
      </dsp:nvSpPr>
      <dsp:spPr>
        <a:xfrm>
          <a:off x="2144277" y="1146610"/>
          <a:ext cx="1432617" cy="573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Routes</a:t>
          </a:r>
        </a:p>
      </dsp:txBody>
      <dsp:txXfrm>
        <a:off x="2144277" y="1146610"/>
        <a:ext cx="1432617" cy="573046"/>
      </dsp:txXfrm>
    </dsp:sp>
    <dsp:sp modelId="{1E32331B-9753-40AA-AAFE-EAC0AC51E64F}">
      <dsp:nvSpPr>
        <dsp:cNvPr id="0" name=""/>
        <dsp:cNvSpPr/>
      </dsp:nvSpPr>
      <dsp:spPr>
        <a:xfrm>
          <a:off x="4106962" y="517"/>
          <a:ext cx="873896" cy="87389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528D9B-8B2A-4200-B8CF-467A5A718FF4}">
      <dsp:nvSpPr>
        <dsp:cNvPr id="0" name=""/>
        <dsp:cNvSpPr/>
      </dsp:nvSpPr>
      <dsp:spPr>
        <a:xfrm>
          <a:off x="4293203" y="186757"/>
          <a:ext cx="501416" cy="5014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D0A809-E55C-4DBA-905A-67338CA7B763}">
      <dsp:nvSpPr>
        <dsp:cNvPr id="0" name=""/>
        <dsp:cNvSpPr/>
      </dsp:nvSpPr>
      <dsp:spPr>
        <a:xfrm>
          <a:off x="3827602" y="1146610"/>
          <a:ext cx="1432617" cy="573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Warehouses</a:t>
          </a:r>
        </a:p>
      </dsp:txBody>
      <dsp:txXfrm>
        <a:off x="3827602" y="1146610"/>
        <a:ext cx="1432617" cy="573046"/>
      </dsp:txXfrm>
    </dsp:sp>
    <dsp:sp modelId="{B721147D-4254-4764-81FF-C960F8603930}">
      <dsp:nvSpPr>
        <dsp:cNvPr id="0" name=""/>
        <dsp:cNvSpPr/>
      </dsp:nvSpPr>
      <dsp:spPr>
        <a:xfrm>
          <a:off x="5790288" y="517"/>
          <a:ext cx="873896" cy="87389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A02BE8-464B-4310-AB9C-5941C7428C86}">
      <dsp:nvSpPr>
        <dsp:cNvPr id="0" name=""/>
        <dsp:cNvSpPr/>
      </dsp:nvSpPr>
      <dsp:spPr>
        <a:xfrm>
          <a:off x="5976528" y="186757"/>
          <a:ext cx="501416" cy="5014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F5F83D-2226-4AED-B8CB-032EC2DACBBB}">
      <dsp:nvSpPr>
        <dsp:cNvPr id="0" name=""/>
        <dsp:cNvSpPr/>
      </dsp:nvSpPr>
      <dsp:spPr>
        <a:xfrm>
          <a:off x="5510927" y="1146610"/>
          <a:ext cx="1432617" cy="573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Delivery Agents</a:t>
          </a:r>
        </a:p>
      </dsp:txBody>
      <dsp:txXfrm>
        <a:off x="5510927" y="1146610"/>
        <a:ext cx="1432617" cy="573046"/>
      </dsp:txXfrm>
    </dsp:sp>
    <dsp:sp modelId="{DFC995C7-C976-4BB2-AD01-FF5C013FAD5D}">
      <dsp:nvSpPr>
        <dsp:cNvPr id="0" name=""/>
        <dsp:cNvSpPr/>
      </dsp:nvSpPr>
      <dsp:spPr>
        <a:xfrm>
          <a:off x="3265300" y="2077812"/>
          <a:ext cx="873896" cy="87389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D34F98-E10A-4D76-BF0C-70C24ECE9CD5}">
      <dsp:nvSpPr>
        <dsp:cNvPr id="0" name=""/>
        <dsp:cNvSpPr/>
      </dsp:nvSpPr>
      <dsp:spPr>
        <a:xfrm>
          <a:off x="3451540" y="2264052"/>
          <a:ext cx="501416" cy="5014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4009F6-5563-4C68-8C23-B482FCC0CAE9}">
      <dsp:nvSpPr>
        <dsp:cNvPr id="0" name=""/>
        <dsp:cNvSpPr/>
      </dsp:nvSpPr>
      <dsp:spPr>
        <a:xfrm>
          <a:off x="2985939" y="3223905"/>
          <a:ext cx="1432617" cy="573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Shipments</a:t>
          </a:r>
        </a:p>
      </dsp:txBody>
      <dsp:txXfrm>
        <a:off x="2985939" y="3223905"/>
        <a:ext cx="1432617" cy="5730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CD6AD3-D587-4710-BB46-93ABBD50BF8D}">
      <dsp:nvSpPr>
        <dsp:cNvPr id="0" name=""/>
        <dsp:cNvSpPr/>
      </dsp:nvSpPr>
      <dsp:spPr>
        <a:xfrm>
          <a:off x="638674" y="2236"/>
          <a:ext cx="2917689" cy="175061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Route Optimization</a:t>
          </a:r>
          <a:endParaRPr lang="en-US" sz="17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Prioritize R002, R007, R008, R006, R015, and R003 for route redesign and performance monitoring.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Implement dynamic route planning using real-time traffic data. </a:t>
          </a:r>
        </a:p>
      </dsp:txBody>
      <dsp:txXfrm>
        <a:off x="638674" y="2236"/>
        <a:ext cx="2917689" cy="1750613"/>
      </dsp:txXfrm>
    </dsp:sp>
    <dsp:sp modelId="{89CB6335-66B7-42B3-A2A7-D6045FFCAC6A}">
      <dsp:nvSpPr>
        <dsp:cNvPr id="0" name=""/>
        <dsp:cNvSpPr/>
      </dsp:nvSpPr>
      <dsp:spPr>
        <a:xfrm>
          <a:off x="3848132" y="2236"/>
          <a:ext cx="2917689" cy="1750613"/>
        </a:xfrm>
        <a:prstGeom prst="rect">
          <a:avLst/>
        </a:prstGeom>
        <a:solidFill>
          <a:schemeClr val="accent5">
            <a:hueOff val="3625003"/>
            <a:satOff val="-21162"/>
            <a:lumOff val="-169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Warehouse Optimization</a:t>
          </a:r>
          <a:endParaRPr lang="en-US" sz="17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Reduce pressure on high-delay warehouses through load balancing.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Replicate best practices from better-performing facilities. </a:t>
          </a:r>
        </a:p>
      </dsp:txBody>
      <dsp:txXfrm>
        <a:off x="3848132" y="2236"/>
        <a:ext cx="2917689" cy="1750613"/>
      </dsp:txXfrm>
    </dsp:sp>
    <dsp:sp modelId="{B8E69E45-3F68-46D0-8E19-EFA7AE293DB6}">
      <dsp:nvSpPr>
        <dsp:cNvPr id="0" name=""/>
        <dsp:cNvSpPr/>
      </dsp:nvSpPr>
      <dsp:spPr>
        <a:xfrm>
          <a:off x="638674" y="2044619"/>
          <a:ext cx="2917689" cy="1750613"/>
        </a:xfrm>
        <a:prstGeom prst="rect">
          <a:avLst/>
        </a:prstGeom>
        <a:solidFill>
          <a:schemeClr val="accent5">
            <a:hueOff val="7250006"/>
            <a:satOff val="-42323"/>
            <a:lumOff val="-339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Delay Reduction Strategy</a:t>
          </a:r>
          <a:endParaRPr lang="en-US" sz="17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Introduce predictive delay alerts for high-risk routes.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Strengthen plans for traffic and weather disruptions. . </a:t>
          </a:r>
        </a:p>
      </dsp:txBody>
      <dsp:txXfrm>
        <a:off x="638674" y="2044619"/>
        <a:ext cx="2917689" cy="1750613"/>
      </dsp:txXfrm>
    </dsp:sp>
    <dsp:sp modelId="{A76A073A-4949-47B5-A4A7-F05F0A132A42}">
      <dsp:nvSpPr>
        <dsp:cNvPr id="0" name=""/>
        <dsp:cNvSpPr/>
      </dsp:nvSpPr>
      <dsp:spPr>
        <a:xfrm>
          <a:off x="3848132" y="2044619"/>
          <a:ext cx="2917689" cy="1750613"/>
        </a:xfrm>
        <a:prstGeom prst="rect">
          <a:avLst/>
        </a:prstGeom>
        <a:solidFill>
          <a:schemeClr val="accent5">
            <a:hueOff val="10875008"/>
            <a:satOff val="-63485"/>
            <a:lumOff val="-509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Service Reliability Improvement</a:t>
          </a:r>
          <a:endParaRPr lang="en-US" sz="17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Establish route-specific KPIs and performance dashboards.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Monitor delayed shipment percentages, transit efficiency, and warehouse performance continuously.</a:t>
          </a:r>
        </a:p>
      </dsp:txBody>
      <dsp:txXfrm>
        <a:off x="3848132" y="2044619"/>
        <a:ext cx="2917689" cy="17506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9B3236-CD72-444E-A141-6C5A5667183E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9EF738-A753-47AA-9C0E-7590B6661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2016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EF738-A753-47AA-9C0E-7590B666172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733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79" y="182879"/>
            <a:ext cx="8778240" cy="64922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0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rgbClr val="FFFFFF"/>
                </a:solidFill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0624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223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0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8779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72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97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293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48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9314" y="1097280"/>
            <a:ext cx="4149638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9260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032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19107" y="1069847"/>
            <a:ext cx="4257703" cy="4645153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90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927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44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2057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877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2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1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3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5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7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BxI8QAotJSqSuy_h-ZX2xX4d8hL-mcug?usp=sharing" TargetMode="External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28D9B36-75B9-4435-83E6-0A9C81A12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243840"/>
            <a:ext cx="879348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5" name="Picture 4" descr="Cargo shipping containers in a pile and on a semi-truck at a harbor">
            <a:extLst>
              <a:ext uri="{FF2B5EF4-FFF2-40B4-BE49-F238E27FC236}">
                <a16:creationId xmlns:a16="http://schemas.microsoft.com/office/drawing/2014/main" id="{2B4CB48A-E429-ADDD-FC84-9FA85851FE7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01485"/>
            <a:ext cx="7406640" cy="1937657"/>
          </a:xfrm>
        </p:spPr>
        <p:txBody>
          <a:bodyPr>
            <a:normAutofit/>
          </a:bodyPr>
          <a:lstStyle/>
          <a:p>
            <a:r>
              <a:rPr lang="en-US" dirty="0"/>
              <a:t>Logistics Optimization &amp; Delivery Performance Analytics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0" y="3102430"/>
            <a:ext cx="7404653" cy="24057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SQL-Based Analysis for FedEx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Project Summary</a:t>
            </a:r>
          </a:p>
          <a:p>
            <a:pPr marL="0" indent="0">
              <a:buNone/>
            </a:pPr>
            <a:r>
              <a:rPr lang="en-US" sz="2800" dirty="0"/>
              <a:t>By - Vikas Sharma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86532B-5A3E-44A5-A0C2-22A0DB316C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243840"/>
            <a:ext cx="879348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298" y="609600"/>
            <a:ext cx="5245435" cy="1356360"/>
          </a:xfrm>
        </p:spPr>
        <p:txBody>
          <a:bodyPr>
            <a:normAutofit/>
          </a:bodyPr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298" y="2057400"/>
            <a:ext cx="5245435" cy="4038600"/>
          </a:xfrm>
        </p:spPr>
        <p:txBody>
          <a:bodyPr>
            <a:normAutofit/>
          </a:bodyPr>
          <a:lstStyle/>
          <a:p>
            <a:r>
              <a:rPr lang="en-US" dirty="0"/>
              <a:t>FedEx, one of the world’s largest logistics and courier service providers, operates an extensive transportation network.</a:t>
            </a:r>
          </a:p>
          <a:p>
            <a:r>
              <a:rPr dirty="0"/>
              <a:t>Rising e-commerce volumes increase logistics pressure</a:t>
            </a:r>
          </a:p>
          <a:p>
            <a:r>
              <a:rPr dirty="0"/>
              <a:t>Delays impact customer satisfaction and operational costs</a:t>
            </a:r>
            <a:endParaRPr lang="en-US" dirty="0"/>
          </a:p>
          <a:p>
            <a:r>
              <a:rPr dirty="0"/>
              <a:t>Data-driven insights improve route and shipment efficiency</a:t>
            </a:r>
          </a:p>
        </p:txBody>
      </p:sp>
      <p:pic>
        <p:nvPicPr>
          <p:cNvPr id="7" name="Graphic 6" descr="Truck">
            <a:extLst>
              <a:ext uri="{FF2B5EF4-FFF2-40B4-BE49-F238E27FC236}">
                <a16:creationId xmlns:a16="http://schemas.microsoft.com/office/drawing/2014/main" id="{1CA42807-C0B6-2016-C8A9-FF2ECC5ED0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39207" y="2252229"/>
            <a:ext cx="2351561" cy="23515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</p:spPr>
        <p:txBody>
          <a:bodyPr>
            <a:normAutofit/>
          </a:bodyPr>
          <a:lstStyle/>
          <a:p>
            <a:r>
              <a:rPr dirty="0"/>
              <a:t>Project 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2989A1F-6C67-C303-2D14-BDDA022DD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8840100"/>
              </p:ext>
            </p:extLst>
          </p:nvPr>
        </p:nvGraphicFramePr>
        <p:xfrm>
          <a:off x="857250" y="2298530"/>
          <a:ext cx="7404497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</p:spPr>
        <p:txBody>
          <a:bodyPr>
            <a:normAutofit/>
          </a:bodyPr>
          <a:lstStyle/>
          <a:p>
            <a:r>
              <a:rPr lang="en-GB" dirty="0"/>
              <a:t>Dataset Overview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19803687-33BB-D49D-E5C1-943D0F4BDE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6012733"/>
              </p:ext>
            </p:extLst>
          </p:nvPr>
        </p:nvGraphicFramePr>
        <p:xfrm>
          <a:off x="857250" y="2298530"/>
          <a:ext cx="7404497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Database Schema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AB66883-548C-8C07-B399-BFFE704DA0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4142" y="2057400"/>
            <a:ext cx="7043057" cy="39188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192" y="402771"/>
            <a:ext cx="6349093" cy="740229"/>
          </a:xfrm>
        </p:spPr>
        <p:txBody>
          <a:bodyPr/>
          <a:lstStyle/>
          <a:p>
            <a:r>
              <a:rPr dirty="0"/>
              <a:t>Data Cleaning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87" y="1458686"/>
            <a:ext cx="8120742" cy="5094513"/>
          </a:xfrm>
        </p:spPr>
        <p:txBody>
          <a:bodyPr>
            <a:normAutofit/>
          </a:bodyPr>
          <a:lstStyle/>
          <a:p>
            <a:r>
              <a:rPr lang="en-US" dirty="0"/>
              <a:t>Identified</a:t>
            </a:r>
            <a:r>
              <a:rPr dirty="0"/>
              <a:t> duplicate records</a:t>
            </a:r>
            <a:endParaRPr lang="en-US" dirty="0"/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select </a:t>
            </a:r>
            <a:r>
              <a:rPr lang="en-US" dirty="0" err="1">
                <a:solidFill>
                  <a:schemeClr val="accent4"/>
                </a:solidFill>
              </a:rPr>
              <a:t>Order_ID</a:t>
            </a:r>
            <a:r>
              <a:rPr lang="en-US" dirty="0">
                <a:solidFill>
                  <a:schemeClr val="accent4"/>
                </a:solidFill>
              </a:rPr>
              <a:t>, count(*) as </a:t>
            </a:r>
            <a:r>
              <a:rPr lang="en-US" dirty="0" err="1">
                <a:solidFill>
                  <a:schemeClr val="accent4"/>
                </a:solidFill>
              </a:rPr>
              <a:t>duplicate_count</a:t>
            </a:r>
            <a:r>
              <a:rPr lang="en-US" dirty="0">
                <a:solidFill>
                  <a:schemeClr val="accent4"/>
                </a:solidFill>
              </a:rPr>
              <a:t> from </a:t>
            </a:r>
            <a:r>
              <a:rPr lang="en-US" dirty="0" err="1">
                <a:solidFill>
                  <a:schemeClr val="accent4"/>
                </a:solidFill>
              </a:rPr>
              <a:t>fedex_ordersgroup</a:t>
            </a:r>
            <a:r>
              <a:rPr lang="en-US" dirty="0">
                <a:solidFill>
                  <a:schemeClr val="accent4"/>
                </a:solidFill>
              </a:rPr>
              <a:t> by </a:t>
            </a:r>
            <a:r>
              <a:rPr lang="en-US" dirty="0" err="1">
                <a:solidFill>
                  <a:schemeClr val="accent4"/>
                </a:solidFill>
              </a:rPr>
              <a:t>Order_ID</a:t>
            </a:r>
            <a:r>
              <a:rPr lang="en-US" dirty="0">
                <a:solidFill>
                  <a:schemeClr val="accent4"/>
                </a:solidFill>
              </a:rPr>
              <a:t> having COUNT(*) &gt; 1;</a:t>
            </a:r>
          </a:p>
          <a:p>
            <a:pPr marL="34290" indent="0">
              <a:buNone/>
            </a:pPr>
            <a:r>
              <a:rPr lang="en-US" dirty="0">
                <a:solidFill>
                  <a:schemeClr val="accent2"/>
                </a:solidFill>
              </a:rPr>
              <a:t>No </a:t>
            </a:r>
            <a:r>
              <a:rPr lang="en-US" dirty="0" err="1">
                <a:solidFill>
                  <a:schemeClr val="accent2"/>
                </a:solidFill>
              </a:rPr>
              <a:t>dulplicates</a:t>
            </a:r>
            <a:r>
              <a:rPr lang="en-US" dirty="0">
                <a:solidFill>
                  <a:schemeClr val="accent2"/>
                </a:solidFill>
              </a:rPr>
              <a:t> were found in Orders and Shipments table</a:t>
            </a:r>
          </a:p>
          <a:p>
            <a:pPr marL="34290" indent="0">
              <a:buNone/>
            </a:pPr>
            <a:endParaRPr dirty="0">
              <a:solidFill>
                <a:schemeClr val="accent2"/>
              </a:solidFill>
            </a:endParaRPr>
          </a:p>
          <a:p>
            <a:r>
              <a:rPr dirty="0"/>
              <a:t>Replaced missing Delay</a:t>
            </a:r>
            <a:r>
              <a:rPr lang="en-US" dirty="0"/>
              <a:t> </a:t>
            </a:r>
            <a:r>
              <a:rPr dirty="0"/>
              <a:t>Hours values</a:t>
            </a:r>
            <a:endParaRPr lang="en-US" dirty="0"/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select * from </a:t>
            </a:r>
            <a:r>
              <a:rPr lang="en-US" dirty="0" err="1">
                <a:solidFill>
                  <a:schemeClr val="accent4"/>
                </a:solidFill>
              </a:rPr>
              <a:t>fedex_shipments</a:t>
            </a:r>
            <a:r>
              <a:rPr lang="en-US" dirty="0">
                <a:solidFill>
                  <a:schemeClr val="accent4"/>
                </a:solidFill>
              </a:rPr>
              <a:t> where </a:t>
            </a:r>
            <a:r>
              <a:rPr lang="en-US" dirty="0" err="1">
                <a:solidFill>
                  <a:schemeClr val="accent4"/>
                </a:solidFill>
              </a:rPr>
              <a:t>Delay_Hours</a:t>
            </a:r>
            <a:r>
              <a:rPr lang="en-US" dirty="0">
                <a:solidFill>
                  <a:schemeClr val="accent4"/>
                </a:solidFill>
              </a:rPr>
              <a:t> is null; </a:t>
            </a:r>
          </a:p>
          <a:p>
            <a:pPr marL="34290" indent="0">
              <a:buNone/>
            </a:pPr>
            <a:r>
              <a:rPr lang="en-US" dirty="0">
                <a:solidFill>
                  <a:schemeClr val="accent2"/>
                </a:solidFill>
              </a:rPr>
              <a:t>No missing values found</a:t>
            </a:r>
          </a:p>
          <a:p>
            <a:pPr marL="34290" indent="0">
              <a:buNone/>
            </a:pPr>
            <a:endParaRPr dirty="0">
              <a:solidFill>
                <a:schemeClr val="accent2"/>
              </a:solidFill>
            </a:endParaRPr>
          </a:p>
          <a:p>
            <a:r>
              <a:rPr dirty="0"/>
              <a:t>Standardized datetime formats</a:t>
            </a:r>
            <a:endParaRPr lang="en-US" dirty="0"/>
          </a:p>
          <a:p>
            <a:pPr marL="34290" indent="0">
              <a:buNone/>
            </a:pPr>
            <a:r>
              <a:rPr lang="en-GB" dirty="0">
                <a:solidFill>
                  <a:schemeClr val="accent4"/>
                </a:solidFill>
              </a:rPr>
              <a:t>Alter table </a:t>
            </a:r>
            <a:r>
              <a:rPr lang="en-GB" dirty="0" err="1">
                <a:solidFill>
                  <a:schemeClr val="accent4"/>
                </a:solidFill>
              </a:rPr>
              <a:t>fedex_orders</a:t>
            </a:r>
            <a:r>
              <a:rPr lang="en-GB" dirty="0">
                <a:solidFill>
                  <a:schemeClr val="accent4"/>
                </a:solidFill>
              </a:rPr>
              <a:t> modify column </a:t>
            </a:r>
            <a:r>
              <a:rPr lang="en-GB" dirty="0" err="1">
                <a:solidFill>
                  <a:schemeClr val="accent4"/>
                </a:solidFill>
              </a:rPr>
              <a:t>Order_Date</a:t>
            </a:r>
            <a:r>
              <a:rPr lang="en-GB" dirty="0">
                <a:solidFill>
                  <a:schemeClr val="accent4"/>
                </a:solidFill>
              </a:rPr>
              <a:t> datetime; </a:t>
            </a:r>
          </a:p>
          <a:p>
            <a:pPr marL="34290" indent="0">
              <a:buNone/>
            </a:pPr>
            <a:r>
              <a:rPr lang="en-GB" dirty="0">
                <a:solidFill>
                  <a:schemeClr val="accent4"/>
                </a:solidFill>
              </a:rPr>
              <a:t>Alter table </a:t>
            </a:r>
            <a:r>
              <a:rPr lang="en-GB" dirty="0" err="1">
                <a:solidFill>
                  <a:schemeClr val="accent4"/>
                </a:solidFill>
              </a:rPr>
              <a:t>fedex_shipments</a:t>
            </a:r>
            <a:r>
              <a:rPr lang="en-GB" dirty="0">
                <a:solidFill>
                  <a:schemeClr val="accent4"/>
                </a:solidFill>
              </a:rPr>
              <a:t> modify column </a:t>
            </a:r>
            <a:r>
              <a:rPr lang="en-GB" dirty="0" err="1">
                <a:solidFill>
                  <a:schemeClr val="accent4"/>
                </a:solidFill>
              </a:rPr>
              <a:t>Pickup_Date</a:t>
            </a:r>
            <a:r>
              <a:rPr lang="en-GB" dirty="0">
                <a:solidFill>
                  <a:schemeClr val="accent4"/>
                </a:solidFill>
              </a:rPr>
              <a:t> datetime;</a:t>
            </a:r>
          </a:p>
          <a:p>
            <a:pPr marL="34290" indent="0">
              <a:buNone/>
            </a:pPr>
            <a:r>
              <a:rPr lang="en-GB" dirty="0">
                <a:solidFill>
                  <a:schemeClr val="accent4"/>
                </a:solidFill>
              </a:rPr>
              <a:t>Alter table </a:t>
            </a:r>
            <a:r>
              <a:rPr lang="en-GB" dirty="0" err="1">
                <a:solidFill>
                  <a:schemeClr val="accent4"/>
                </a:solidFill>
              </a:rPr>
              <a:t>fedex_shipments</a:t>
            </a:r>
            <a:r>
              <a:rPr lang="en-GB" dirty="0">
                <a:solidFill>
                  <a:schemeClr val="accent4"/>
                </a:solidFill>
              </a:rPr>
              <a:t> modify column </a:t>
            </a:r>
            <a:r>
              <a:rPr lang="en-GB" dirty="0" err="1">
                <a:solidFill>
                  <a:schemeClr val="accent4"/>
                </a:solidFill>
              </a:rPr>
              <a:t>Delivery_Date</a:t>
            </a:r>
            <a:r>
              <a:rPr lang="en-GB" dirty="0">
                <a:solidFill>
                  <a:schemeClr val="accent4"/>
                </a:solidFill>
              </a:rPr>
              <a:t> datetime;</a:t>
            </a: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3B14F-1AB4-C9D9-7040-A853738E7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169D1-CFE2-AE96-AC15-A7D3D6631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192" y="402771"/>
            <a:ext cx="6349093" cy="740229"/>
          </a:xfrm>
        </p:spPr>
        <p:txBody>
          <a:bodyPr/>
          <a:lstStyle/>
          <a:p>
            <a:r>
              <a:rPr dirty="0"/>
              <a:t>Data Cleaning &amp;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50DA3-820E-40EF-8DD3-0F2CA0987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287" y="1458686"/>
            <a:ext cx="8120742" cy="5094513"/>
          </a:xfrm>
        </p:spPr>
        <p:txBody>
          <a:bodyPr>
            <a:normAutofit/>
          </a:bodyPr>
          <a:lstStyle/>
          <a:p>
            <a:r>
              <a:rPr lang="en-US" dirty="0"/>
              <a:t>No </a:t>
            </a:r>
            <a:r>
              <a:rPr lang="en-US" dirty="0" err="1"/>
              <a:t>Delivery_Date</a:t>
            </a:r>
            <a:r>
              <a:rPr lang="en-US" dirty="0"/>
              <a:t> occurs before </a:t>
            </a:r>
            <a:r>
              <a:rPr lang="en-US" dirty="0" err="1"/>
              <a:t>Pickup_Date</a:t>
            </a:r>
            <a:endParaRPr lang="en-US" dirty="0"/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select </a:t>
            </a:r>
            <a:r>
              <a:rPr lang="en-US" dirty="0" err="1">
                <a:solidFill>
                  <a:schemeClr val="accent4"/>
                </a:solidFill>
              </a:rPr>
              <a:t>Shipment_ID</a:t>
            </a:r>
            <a:r>
              <a:rPr lang="en-US" dirty="0">
                <a:solidFill>
                  <a:schemeClr val="accent4"/>
                </a:solidFill>
              </a:rPr>
              <a:t>, </a:t>
            </a:r>
            <a:r>
              <a:rPr lang="en-US" dirty="0" err="1">
                <a:solidFill>
                  <a:schemeClr val="accent4"/>
                </a:solidFill>
              </a:rPr>
              <a:t>Pickup_Date</a:t>
            </a:r>
            <a:r>
              <a:rPr lang="en-US" dirty="0">
                <a:solidFill>
                  <a:schemeClr val="accent4"/>
                </a:solidFill>
              </a:rPr>
              <a:t>, </a:t>
            </a:r>
            <a:r>
              <a:rPr lang="en-US" dirty="0" err="1">
                <a:solidFill>
                  <a:schemeClr val="accent4"/>
                </a:solidFill>
              </a:rPr>
              <a:t>Delivery_Date,'Invalid</a:t>
            </a:r>
            <a:r>
              <a:rPr lang="en-US" dirty="0">
                <a:solidFill>
                  <a:schemeClr val="accent4"/>
                </a:solidFill>
              </a:rPr>
              <a:t> Delivery Timeline' as Issue FROM </a:t>
            </a:r>
            <a:r>
              <a:rPr lang="en-US" dirty="0" err="1">
                <a:solidFill>
                  <a:schemeClr val="accent4"/>
                </a:solidFill>
              </a:rPr>
              <a:t>fedex_shipments</a:t>
            </a:r>
            <a:r>
              <a:rPr lang="en-US" dirty="0">
                <a:solidFill>
                  <a:schemeClr val="accent4"/>
                </a:solidFill>
              </a:rPr>
              <a:t> WHERE </a:t>
            </a:r>
            <a:r>
              <a:rPr lang="en-US" dirty="0" err="1">
                <a:solidFill>
                  <a:schemeClr val="accent4"/>
                </a:solidFill>
              </a:rPr>
              <a:t>Delivery_Date</a:t>
            </a:r>
            <a:r>
              <a:rPr lang="en-US" dirty="0">
                <a:solidFill>
                  <a:schemeClr val="accent4"/>
                </a:solidFill>
              </a:rPr>
              <a:t> &lt; </a:t>
            </a:r>
            <a:r>
              <a:rPr lang="en-US" dirty="0" err="1">
                <a:solidFill>
                  <a:schemeClr val="accent4"/>
                </a:solidFill>
              </a:rPr>
              <a:t>Pickup_Date</a:t>
            </a:r>
            <a:r>
              <a:rPr lang="en-US" dirty="0">
                <a:solidFill>
                  <a:schemeClr val="accent4"/>
                </a:solidFill>
              </a:rPr>
              <a:t>;</a:t>
            </a:r>
          </a:p>
          <a:p>
            <a:pPr marL="34290" indent="0">
              <a:buNone/>
            </a:pPr>
            <a:r>
              <a:rPr lang="en-US" dirty="0">
                <a:solidFill>
                  <a:schemeClr val="accent2"/>
                </a:solidFill>
              </a:rPr>
              <a:t>No records found where Delivery Date occurs before Pickup Date</a:t>
            </a:r>
          </a:p>
          <a:p>
            <a:pPr marL="34290" indent="0">
              <a:buNone/>
            </a:pPr>
            <a:endParaRPr dirty="0">
              <a:solidFill>
                <a:schemeClr val="accent4"/>
              </a:solidFill>
            </a:endParaRPr>
          </a:p>
          <a:p>
            <a:r>
              <a:rPr dirty="0"/>
              <a:t>Validated referential integrity</a:t>
            </a:r>
            <a:endParaRPr lang="en-US" dirty="0"/>
          </a:p>
          <a:p>
            <a:pPr marL="34290" indent="0">
              <a:buNone/>
            </a:pPr>
            <a:r>
              <a:rPr lang="en-US" dirty="0">
                <a:solidFill>
                  <a:schemeClr val="accent2"/>
                </a:solidFill>
              </a:rPr>
              <a:t>#Invalid </a:t>
            </a:r>
            <a:r>
              <a:rPr lang="en-US" dirty="0" err="1">
                <a:solidFill>
                  <a:schemeClr val="accent2"/>
                </a:solidFill>
              </a:rPr>
              <a:t>Route_ID</a:t>
            </a:r>
            <a:r>
              <a:rPr lang="en-US" dirty="0">
                <a:solidFill>
                  <a:schemeClr val="accent2"/>
                </a:solidFill>
              </a:rPr>
              <a:t> in Orders </a:t>
            </a:r>
            <a:r>
              <a:rPr lang="en-US" dirty="0">
                <a:solidFill>
                  <a:schemeClr val="accent4"/>
                </a:solidFill>
              </a:rPr>
              <a:t>: select o.* from </a:t>
            </a:r>
            <a:r>
              <a:rPr lang="en-US" dirty="0" err="1">
                <a:solidFill>
                  <a:schemeClr val="accent4"/>
                </a:solidFill>
              </a:rPr>
              <a:t>fedex_orders</a:t>
            </a:r>
            <a:r>
              <a:rPr lang="en-US" dirty="0">
                <a:solidFill>
                  <a:schemeClr val="accent4"/>
                </a:solidFill>
              </a:rPr>
              <a:t> o left join </a:t>
            </a:r>
            <a:r>
              <a:rPr lang="en-US" dirty="0" err="1">
                <a:solidFill>
                  <a:schemeClr val="accent4"/>
                </a:solidFill>
              </a:rPr>
              <a:t>fedex_routes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 err="1">
                <a:solidFill>
                  <a:schemeClr val="accent4"/>
                </a:solidFill>
              </a:rPr>
              <a:t>ron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 err="1">
                <a:solidFill>
                  <a:schemeClr val="accent4"/>
                </a:solidFill>
              </a:rPr>
              <a:t>o.Route_ID</a:t>
            </a:r>
            <a:r>
              <a:rPr lang="en-US" dirty="0">
                <a:solidFill>
                  <a:schemeClr val="accent4"/>
                </a:solidFill>
              </a:rPr>
              <a:t> = </a:t>
            </a:r>
            <a:r>
              <a:rPr lang="en-US" dirty="0" err="1">
                <a:solidFill>
                  <a:schemeClr val="accent4"/>
                </a:solidFill>
              </a:rPr>
              <a:t>r.Route_ID</a:t>
            </a:r>
            <a:r>
              <a:rPr lang="en-US" dirty="0">
                <a:solidFill>
                  <a:schemeClr val="accent4"/>
                </a:solidFill>
              </a:rPr>
              <a:t> where </a:t>
            </a:r>
            <a:r>
              <a:rPr lang="en-US" dirty="0" err="1">
                <a:solidFill>
                  <a:schemeClr val="accent4"/>
                </a:solidFill>
              </a:rPr>
              <a:t>r.Route_ID</a:t>
            </a:r>
            <a:r>
              <a:rPr lang="en-US" dirty="0">
                <a:solidFill>
                  <a:schemeClr val="accent4"/>
                </a:solidFill>
              </a:rPr>
              <a:t> is null;</a:t>
            </a:r>
          </a:p>
          <a:p>
            <a:pPr marL="34290" indent="0">
              <a:buNone/>
            </a:pPr>
            <a:r>
              <a:rPr lang="en-US" dirty="0">
                <a:solidFill>
                  <a:schemeClr val="accent2"/>
                </a:solidFill>
              </a:rPr>
              <a:t>#Invalid </a:t>
            </a:r>
            <a:r>
              <a:rPr lang="en-US" dirty="0" err="1">
                <a:solidFill>
                  <a:schemeClr val="accent2"/>
                </a:solidFill>
              </a:rPr>
              <a:t>Warehouse_ID</a:t>
            </a:r>
            <a:r>
              <a:rPr lang="en-US" dirty="0">
                <a:solidFill>
                  <a:schemeClr val="accent2"/>
                </a:solidFill>
              </a:rPr>
              <a:t> in Orders </a:t>
            </a:r>
            <a:r>
              <a:rPr lang="en-US" dirty="0">
                <a:solidFill>
                  <a:schemeClr val="accent4"/>
                </a:solidFill>
              </a:rPr>
              <a:t>: select o.* from </a:t>
            </a:r>
            <a:r>
              <a:rPr lang="en-US" dirty="0" err="1">
                <a:solidFill>
                  <a:schemeClr val="accent4"/>
                </a:solidFill>
              </a:rPr>
              <a:t>fedex_orders</a:t>
            </a:r>
            <a:r>
              <a:rPr lang="en-US" dirty="0">
                <a:solidFill>
                  <a:schemeClr val="accent4"/>
                </a:solidFill>
              </a:rPr>
              <a:t> o left join </a:t>
            </a:r>
            <a:r>
              <a:rPr lang="en-US" dirty="0" err="1">
                <a:solidFill>
                  <a:schemeClr val="accent4"/>
                </a:solidFill>
              </a:rPr>
              <a:t>fedex_warehouses</a:t>
            </a:r>
            <a:r>
              <a:rPr lang="en-US" dirty="0">
                <a:solidFill>
                  <a:schemeClr val="accent4"/>
                </a:solidFill>
              </a:rPr>
              <a:t> won </a:t>
            </a:r>
            <a:r>
              <a:rPr lang="en-US" dirty="0" err="1">
                <a:solidFill>
                  <a:schemeClr val="accent4"/>
                </a:solidFill>
              </a:rPr>
              <a:t>o.Warehouse_ID</a:t>
            </a:r>
            <a:r>
              <a:rPr lang="en-US" dirty="0">
                <a:solidFill>
                  <a:schemeClr val="accent4"/>
                </a:solidFill>
              </a:rPr>
              <a:t> = </a:t>
            </a:r>
            <a:r>
              <a:rPr lang="en-US" dirty="0" err="1">
                <a:solidFill>
                  <a:schemeClr val="accent4"/>
                </a:solidFill>
              </a:rPr>
              <a:t>w.Warehouse_ID</a:t>
            </a:r>
            <a:r>
              <a:rPr lang="en-US" dirty="0">
                <a:solidFill>
                  <a:schemeClr val="accent4"/>
                </a:solidFill>
              </a:rPr>
              <a:t> where </a:t>
            </a:r>
            <a:r>
              <a:rPr lang="en-US" dirty="0" err="1">
                <a:solidFill>
                  <a:schemeClr val="accent4"/>
                </a:solidFill>
              </a:rPr>
              <a:t>w.Warehouse_ID</a:t>
            </a:r>
            <a:r>
              <a:rPr lang="en-US" dirty="0">
                <a:solidFill>
                  <a:schemeClr val="accent4"/>
                </a:solidFill>
              </a:rPr>
              <a:t> is null;</a:t>
            </a:r>
          </a:p>
          <a:p>
            <a:pPr marL="34290" indent="0">
              <a:buNone/>
            </a:pPr>
            <a:r>
              <a:rPr lang="en-US" dirty="0">
                <a:solidFill>
                  <a:schemeClr val="accent2"/>
                </a:solidFill>
              </a:rPr>
              <a:t>#Invalid </a:t>
            </a:r>
            <a:r>
              <a:rPr lang="en-US" dirty="0" err="1">
                <a:solidFill>
                  <a:schemeClr val="accent2"/>
                </a:solidFill>
              </a:rPr>
              <a:t>Order_ID</a:t>
            </a:r>
            <a:r>
              <a:rPr lang="en-US" dirty="0">
                <a:solidFill>
                  <a:schemeClr val="accent2"/>
                </a:solidFill>
              </a:rPr>
              <a:t> in Shipments </a:t>
            </a:r>
            <a:r>
              <a:rPr lang="en-US" dirty="0">
                <a:solidFill>
                  <a:schemeClr val="accent4"/>
                </a:solidFill>
              </a:rPr>
              <a:t>: select s.* from </a:t>
            </a:r>
            <a:r>
              <a:rPr lang="en-US" dirty="0" err="1">
                <a:solidFill>
                  <a:schemeClr val="accent4"/>
                </a:solidFill>
              </a:rPr>
              <a:t>fedex_shipments</a:t>
            </a:r>
            <a:r>
              <a:rPr lang="en-US" dirty="0">
                <a:solidFill>
                  <a:schemeClr val="accent4"/>
                </a:solidFill>
              </a:rPr>
              <a:t> s left join </a:t>
            </a:r>
            <a:r>
              <a:rPr lang="en-US" dirty="0" err="1">
                <a:solidFill>
                  <a:schemeClr val="accent4"/>
                </a:solidFill>
              </a:rPr>
              <a:t>fedex_orders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 err="1">
                <a:solidFill>
                  <a:schemeClr val="accent4"/>
                </a:solidFill>
              </a:rPr>
              <a:t>oon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 err="1">
                <a:solidFill>
                  <a:schemeClr val="accent4"/>
                </a:solidFill>
              </a:rPr>
              <a:t>s.Order_ID</a:t>
            </a:r>
            <a:r>
              <a:rPr lang="en-US" dirty="0">
                <a:solidFill>
                  <a:schemeClr val="accent4"/>
                </a:solidFill>
              </a:rPr>
              <a:t> = </a:t>
            </a:r>
            <a:r>
              <a:rPr lang="en-US" dirty="0" err="1">
                <a:solidFill>
                  <a:schemeClr val="accent4"/>
                </a:solidFill>
              </a:rPr>
              <a:t>o.Order_ID</a:t>
            </a:r>
            <a:r>
              <a:rPr lang="en-US" dirty="0">
                <a:solidFill>
                  <a:schemeClr val="accent4"/>
                </a:solidFill>
              </a:rPr>
              <a:t> where </a:t>
            </a:r>
            <a:r>
              <a:rPr lang="en-US" dirty="0" err="1">
                <a:solidFill>
                  <a:schemeClr val="accent4"/>
                </a:solidFill>
              </a:rPr>
              <a:t>o.Order_ID</a:t>
            </a:r>
            <a:r>
              <a:rPr lang="en-US" dirty="0">
                <a:solidFill>
                  <a:schemeClr val="accent4"/>
                </a:solidFill>
              </a:rPr>
              <a:t> is null;</a:t>
            </a:r>
          </a:p>
          <a:p>
            <a:pPr marL="3429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9367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264" y="402771"/>
            <a:ext cx="7406640" cy="718457"/>
          </a:xfrm>
        </p:spPr>
        <p:txBody>
          <a:bodyPr>
            <a:normAutofit/>
          </a:bodyPr>
          <a:lstStyle/>
          <a:p>
            <a:r>
              <a:rPr lang="en-GB" dirty="0"/>
              <a:t>Delivery Delay Analysis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1" y="1284514"/>
            <a:ext cx="7404653" cy="4811486"/>
          </a:xfrm>
        </p:spPr>
        <p:txBody>
          <a:bodyPr>
            <a:normAutofit/>
          </a:bodyPr>
          <a:lstStyle/>
          <a:p>
            <a:r>
              <a:rPr lang="en-US" dirty="0"/>
              <a:t>Difference of pickup and delivery date in hours</a:t>
            </a:r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select </a:t>
            </a:r>
            <a:r>
              <a:rPr lang="en-US" dirty="0" err="1">
                <a:solidFill>
                  <a:schemeClr val="accent4"/>
                </a:solidFill>
              </a:rPr>
              <a:t>Shipment_ID</a:t>
            </a:r>
            <a:r>
              <a:rPr lang="en-US" dirty="0">
                <a:solidFill>
                  <a:schemeClr val="accent4"/>
                </a:solidFill>
              </a:rPr>
              <a:t>, </a:t>
            </a:r>
            <a:r>
              <a:rPr lang="en-US" dirty="0" err="1">
                <a:solidFill>
                  <a:schemeClr val="accent4"/>
                </a:solidFill>
              </a:rPr>
              <a:t>Timestampdiff</a:t>
            </a:r>
            <a:r>
              <a:rPr lang="en-US" dirty="0">
                <a:solidFill>
                  <a:schemeClr val="accent4"/>
                </a:solidFill>
              </a:rPr>
              <a:t>(hour, </a:t>
            </a:r>
            <a:r>
              <a:rPr lang="en-US" dirty="0" err="1">
                <a:solidFill>
                  <a:schemeClr val="accent4"/>
                </a:solidFill>
              </a:rPr>
              <a:t>Pickup_Date</a:t>
            </a:r>
            <a:r>
              <a:rPr lang="en-US" dirty="0">
                <a:solidFill>
                  <a:schemeClr val="accent4"/>
                </a:solidFill>
              </a:rPr>
              <a:t>, </a:t>
            </a:r>
            <a:r>
              <a:rPr lang="en-US" dirty="0" err="1">
                <a:solidFill>
                  <a:schemeClr val="accent4"/>
                </a:solidFill>
              </a:rPr>
              <a:t>Delivery_Date</a:t>
            </a:r>
            <a:r>
              <a:rPr lang="en-US" dirty="0">
                <a:solidFill>
                  <a:schemeClr val="accent4"/>
                </a:solidFill>
              </a:rPr>
              <a:t>) as </a:t>
            </a:r>
            <a:r>
              <a:rPr lang="en-US" dirty="0" err="1">
                <a:solidFill>
                  <a:schemeClr val="accent4"/>
                </a:solidFill>
              </a:rPr>
              <a:t>Delivery_Time_Taken</a:t>
            </a:r>
            <a:r>
              <a:rPr lang="en-US" dirty="0">
                <a:solidFill>
                  <a:schemeClr val="accent4"/>
                </a:solidFill>
              </a:rPr>
              <a:t> from </a:t>
            </a:r>
            <a:r>
              <a:rPr lang="en-US" dirty="0" err="1">
                <a:solidFill>
                  <a:schemeClr val="accent4"/>
                </a:solidFill>
              </a:rPr>
              <a:t>fedex_shipments</a:t>
            </a:r>
            <a:r>
              <a:rPr lang="en-US" dirty="0">
                <a:solidFill>
                  <a:schemeClr val="accent4"/>
                </a:solidFill>
              </a:rPr>
              <a:t>;</a:t>
            </a: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r>
              <a:rPr lang="en-US" dirty="0"/>
              <a:t>Top 10 delayed routes based on average delay hours</a:t>
            </a:r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select </a:t>
            </a:r>
            <a:r>
              <a:rPr lang="en-US" dirty="0" err="1">
                <a:solidFill>
                  <a:schemeClr val="accent4"/>
                </a:solidFill>
              </a:rPr>
              <a:t>Route_ID</a:t>
            </a:r>
            <a:r>
              <a:rPr lang="en-US" dirty="0">
                <a:solidFill>
                  <a:schemeClr val="accent4"/>
                </a:solidFill>
              </a:rPr>
              <a:t>, round(avg(</a:t>
            </a:r>
            <a:r>
              <a:rPr lang="en-US" dirty="0" err="1">
                <a:solidFill>
                  <a:schemeClr val="accent4"/>
                </a:solidFill>
              </a:rPr>
              <a:t>delay_hours</a:t>
            </a:r>
            <a:r>
              <a:rPr lang="en-US" dirty="0">
                <a:solidFill>
                  <a:schemeClr val="accent4"/>
                </a:solidFill>
              </a:rPr>
              <a:t>),1) as </a:t>
            </a:r>
            <a:r>
              <a:rPr lang="en-US" dirty="0" err="1">
                <a:solidFill>
                  <a:schemeClr val="accent4"/>
                </a:solidFill>
              </a:rPr>
              <a:t>Avg_Delay_Hours</a:t>
            </a:r>
            <a:r>
              <a:rPr lang="en-US" dirty="0">
                <a:solidFill>
                  <a:schemeClr val="accent4"/>
                </a:solidFill>
              </a:rPr>
              <a:t> from </a:t>
            </a:r>
            <a:r>
              <a:rPr lang="en-US" dirty="0" err="1">
                <a:solidFill>
                  <a:schemeClr val="accent4"/>
                </a:solidFill>
              </a:rPr>
              <a:t>fedex_shipmentsgroup</a:t>
            </a:r>
            <a:r>
              <a:rPr lang="en-US" dirty="0">
                <a:solidFill>
                  <a:schemeClr val="accent4"/>
                </a:solidFill>
              </a:rPr>
              <a:t> by </a:t>
            </a:r>
            <a:r>
              <a:rPr lang="en-US" dirty="0" err="1">
                <a:solidFill>
                  <a:schemeClr val="accent4"/>
                </a:solidFill>
              </a:rPr>
              <a:t>Route_ID</a:t>
            </a:r>
            <a:r>
              <a:rPr lang="en-US" dirty="0">
                <a:solidFill>
                  <a:schemeClr val="accent4"/>
                </a:solidFill>
              </a:rPr>
              <a:t> order by </a:t>
            </a:r>
            <a:r>
              <a:rPr lang="en-US" dirty="0" err="1">
                <a:solidFill>
                  <a:schemeClr val="accent4"/>
                </a:solidFill>
              </a:rPr>
              <a:t>Avg_Delay_Hours</a:t>
            </a:r>
            <a:r>
              <a:rPr lang="en-US" dirty="0">
                <a:solidFill>
                  <a:schemeClr val="accent4"/>
                </a:solidFill>
              </a:rPr>
              <a:t> desc limit 10;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5271DC-0C8A-C432-7114-7D7944FB3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543" y="2416629"/>
            <a:ext cx="4876799" cy="10123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E98A96-9660-C5CB-32CC-843C9A6FD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542" y="5084543"/>
            <a:ext cx="4876800" cy="11747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99406-F69E-ED91-69A3-68D01A992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CC509-2706-36F0-4847-4967B8FB1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64" y="402771"/>
            <a:ext cx="7406640" cy="718457"/>
          </a:xfrm>
        </p:spPr>
        <p:txBody>
          <a:bodyPr>
            <a:normAutofit/>
          </a:bodyPr>
          <a:lstStyle/>
          <a:p>
            <a:r>
              <a:rPr lang="en-GB" dirty="0"/>
              <a:t>Delivery Delay Analysis 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C9419-5C70-B3A6-85CA-079CCB8DE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284514"/>
            <a:ext cx="7404653" cy="4974772"/>
          </a:xfrm>
        </p:spPr>
        <p:txBody>
          <a:bodyPr>
            <a:normAutofit/>
          </a:bodyPr>
          <a:lstStyle/>
          <a:p>
            <a:r>
              <a:rPr lang="en-US" dirty="0"/>
              <a:t>Ranking shipments by delay within each </a:t>
            </a:r>
            <a:r>
              <a:rPr lang="en-US" dirty="0" err="1"/>
              <a:t>Warehouse_ID</a:t>
            </a:r>
            <a:endParaRPr lang="en-US" dirty="0"/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select </a:t>
            </a:r>
            <a:r>
              <a:rPr lang="en-US" dirty="0" err="1">
                <a:solidFill>
                  <a:schemeClr val="accent4"/>
                </a:solidFill>
              </a:rPr>
              <a:t>Shipment_ID</a:t>
            </a:r>
            <a:r>
              <a:rPr lang="en-US" dirty="0">
                <a:solidFill>
                  <a:schemeClr val="accent4"/>
                </a:solidFill>
              </a:rPr>
              <a:t>, </a:t>
            </a:r>
            <a:r>
              <a:rPr lang="en-US" dirty="0" err="1">
                <a:solidFill>
                  <a:schemeClr val="accent4"/>
                </a:solidFill>
              </a:rPr>
              <a:t>Warehouse_ID</a:t>
            </a:r>
            <a:r>
              <a:rPr lang="en-US" dirty="0">
                <a:solidFill>
                  <a:schemeClr val="accent4"/>
                </a:solidFill>
              </a:rPr>
              <a:t>, </a:t>
            </a:r>
            <a:r>
              <a:rPr lang="en-US" dirty="0" err="1">
                <a:solidFill>
                  <a:schemeClr val="accent4"/>
                </a:solidFill>
              </a:rPr>
              <a:t>dense_rank</a:t>
            </a:r>
            <a:r>
              <a:rPr lang="en-US" dirty="0">
                <a:solidFill>
                  <a:schemeClr val="accent4"/>
                </a:solidFill>
              </a:rPr>
              <a:t>() over(partition by </a:t>
            </a:r>
            <a:r>
              <a:rPr lang="en-US" dirty="0" err="1">
                <a:solidFill>
                  <a:schemeClr val="accent4"/>
                </a:solidFill>
              </a:rPr>
              <a:t>Warehouse_ID</a:t>
            </a:r>
            <a:r>
              <a:rPr lang="en-US" dirty="0">
                <a:solidFill>
                  <a:schemeClr val="accent4"/>
                </a:solidFill>
              </a:rPr>
              <a:t> order by </a:t>
            </a:r>
            <a:r>
              <a:rPr lang="en-US" dirty="0" err="1">
                <a:solidFill>
                  <a:schemeClr val="accent4"/>
                </a:solidFill>
              </a:rPr>
              <a:t>delay_hours</a:t>
            </a:r>
            <a:r>
              <a:rPr lang="en-US" dirty="0">
                <a:solidFill>
                  <a:schemeClr val="accent4"/>
                </a:solidFill>
              </a:rPr>
              <a:t> desc) as Rankingfrom </a:t>
            </a:r>
            <a:r>
              <a:rPr lang="en-US" dirty="0" err="1">
                <a:solidFill>
                  <a:schemeClr val="accent4"/>
                </a:solidFill>
              </a:rPr>
              <a:t>fedex_shipments</a:t>
            </a:r>
            <a:r>
              <a:rPr lang="en-US" dirty="0">
                <a:solidFill>
                  <a:schemeClr val="accent4"/>
                </a:solidFill>
              </a:rPr>
              <a:t>;</a:t>
            </a: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/>
          </a:p>
          <a:p>
            <a:r>
              <a:rPr lang="en-US" dirty="0"/>
              <a:t>Average delay per </a:t>
            </a:r>
            <a:r>
              <a:rPr lang="en-US" dirty="0" err="1"/>
              <a:t>Delivery_Type</a:t>
            </a:r>
            <a:endParaRPr lang="en-US" dirty="0"/>
          </a:p>
          <a:p>
            <a:pPr marL="34290" indent="0">
              <a:buNone/>
            </a:pPr>
            <a:r>
              <a:rPr lang="en-GB" dirty="0">
                <a:solidFill>
                  <a:schemeClr val="accent4"/>
                </a:solidFill>
              </a:rPr>
              <a:t>select </a:t>
            </a:r>
            <a:r>
              <a:rPr lang="en-GB" dirty="0" err="1">
                <a:solidFill>
                  <a:schemeClr val="accent4"/>
                </a:solidFill>
              </a:rPr>
              <a:t>o.Delivery_Type</a:t>
            </a:r>
            <a:r>
              <a:rPr lang="en-GB" dirty="0">
                <a:solidFill>
                  <a:schemeClr val="accent4"/>
                </a:solidFill>
              </a:rPr>
              <a:t>, round(</a:t>
            </a:r>
            <a:r>
              <a:rPr lang="en-GB" dirty="0" err="1">
                <a:solidFill>
                  <a:schemeClr val="accent4"/>
                </a:solidFill>
              </a:rPr>
              <a:t>avg</a:t>
            </a:r>
            <a:r>
              <a:rPr lang="en-GB" dirty="0">
                <a:solidFill>
                  <a:schemeClr val="accent4"/>
                </a:solidFill>
              </a:rPr>
              <a:t>(</a:t>
            </a:r>
            <a:r>
              <a:rPr lang="en-GB" dirty="0" err="1">
                <a:solidFill>
                  <a:schemeClr val="accent4"/>
                </a:solidFill>
              </a:rPr>
              <a:t>s.delay_hours</a:t>
            </a:r>
            <a:r>
              <a:rPr lang="en-GB" dirty="0">
                <a:solidFill>
                  <a:schemeClr val="accent4"/>
                </a:solidFill>
              </a:rPr>
              <a:t>),1) as </a:t>
            </a:r>
            <a:r>
              <a:rPr lang="en-GB" dirty="0" err="1">
                <a:solidFill>
                  <a:schemeClr val="accent4"/>
                </a:solidFill>
              </a:rPr>
              <a:t>Avg_Delay_Hours</a:t>
            </a:r>
            <a:r>
              <a:rPr lang="en-GB" dirty="0">
                <a:solidFill>
                  <a:schemeClr val="accent4"/>
                </a:solidFill>
              </a:rPr>
              <a:t> from </a:t>
            </a:r>
            <a:r>
              <a:rPr lang="en-GB" dirty="0" err="1">
                <a:solidFill>
                  <a:schemeClr val="accent4"/>
                </a:solidFill>
              </a:rPr>
              <a:t>fedex_orders</a:t>
            </a:r>
            <a:r>
              <a:rPr lang="en-GB" dirty="0">
                <a:solidFill>
                  <a:schemeClr val="accent4"/>
                </a:solidFill>
              </a:rPr>
              <a:t> o left join </a:t>
            </a:r>
            <a:r>
              <a:rPr lang="en-GB" dirty="0" err="1">
                <a:solidFill>
                  <a:schemeClr val="accent4"/>
                </a:solidFill>
              </a:rPr>
              <a:t>fedex_shipments</a:t>
            </a:r>
            <a:r>
              <a:rPr lang="en-GB" dirty="0">
                <a:solidFill>
                  <a:schemeClr val="accent4"/>
                </a:solidFill>
              </a:rPr>
              <a:t> s on </a:t>
            </a:r>
            <a:r>
              <a:rPr lang="en-GB" dirty="0" err="1">
                <a:solidFill>
                  <a:schemeClr val="accent4"/>
                </a:solidFill>
              </a:rPr>
              <a:t>o.Order_ID</a:t>
            </a:r>
            <a:r>
              <a:rPr lang="en-GB" dirty="0">
                <a:solidFill>
                  <a:schemeClr val="accent4"/>
                </a:solidFill>
              </a:rPr>
              <a:t> = </a:t>
            </a:r>
            <a:r>
              <a:rPr lang="en-GB" dirty="0" err="1">
                <a:solidFill>
                  <a:schemeClr val="accent4"/>
                </a:solidFill>
              </a:rPr>
              <a:t>s.Order_IDgroup</a:t>
            </a:r>
            <a:r>
              <a:rPr lang="en-GB" dirty="0">
                <a:solidFill>
                  <a:schemeClr val="accent4"/>
                </a:solidFill>
              </a:rPr>
              <a:t> by </a:t>
            </a:r>
            <a:r>
              <a:rPr lang="en-GB" dirty="0" err="1">
                <a:solidFill>
                  <a:schemeClr val="accent4"/>
                </a:solidFill>
              </a:rPr>
              <a:t>o.Delivery_Type</a:t>
            </a:r>
            <a:r>
              <a:rPr lang="en-GB" dirty="0">
                <a:solidFill>
                  <a:schemeClr val="accent4"/>
                </a:solidFill>
              </a:rPr>
              <a:t> order by </a:t>
            </a:r>
            <a:r>
              <a:rPr lang="en-GB" dirty="0" err="1">
                <a:solidFill>
                  <a:schemeClr val="accent4"/>
                </a:solidFill>
              </a:rPr>
              <a:t>Avg_Delay_Hours</a:t>
            </a:r>
            <a:r>
              <a:rPr lang="en-GB" dirty="0">
                <a:solidFill>
                  <a:schemeClr val="accent4"/>
                </a:solidFill>
              </a:rPr>
              <a:t> </a:t>
            </a:r>
            <a:r>
              <a:rPr lang="en-GB" dirty="0" err="1">
                <a:solidFill>
                  <a:schemeClr val="accent4"/>
                </a:solidFill>
              </a:rPr>
              <a:t>desc</a:t>
            </a:r>
            <a:r>
              <a:rPr lang="en-GB" dirty="0">
                <a:solidFill>
                  <a:schemeClr val="accent4"/>
                </a:solidFill>
              </a:rPr>
              <a:t>;</a:t>
            </a:r>
            <a:endParaRPr dirty="0">
              <a:solidFill>
                <a:schemeClr val="accent4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80A756-B1DC-CC3B-6741-5F1E49462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229" y="2706979"/>
            <a:ext cx="4724400" cy="9832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4138F0-5F5B-DDA4-F0E3-8872B102A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229" y="5573487"/>
            <a:ext cx="44196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768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B8B093-69D6-DDD0-C6F4-7F69664FE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FB71362F-6305-42A2-8633-285CE3813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243840"/>
            <a:ext cx="879348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11F50C1-F708-485D-B1A9-65873AB21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243840"/>
            <a:ext cx="879348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AF7F52A-561E-4CE4-A251-1565CF80F2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995" y="3733800"/>
            <a:ext cx="6172200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B67E998-E312-45A7-A84D-81D9342085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995" y="5462458"/>
            <a:ext cx="6172200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00212FE-F0E3-29D2-17D8-2A6318248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485" y="4208424"/>
            <a:ext cx="747522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85000"/>
              </a:lnSpc>
            </a:pPr>
            <a:r>
              <a:rPr lang="en-US" sz="4400" b="1" cap="all">
                <a:solidFill>
                  <a:srgbClr val="FFFFFF"/>
                </a:solidFill>
              </a:rPr>
              <a:t>Delivery Delay Analysis Visuals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3A3BFD8-1DCA-4E53-9E5F-9292C9BE3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243841"/>
            <a:ext cx="8791575" cy="3964584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09EE9C7B-859E-9656-45E8-FBA98DD0F3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6829" y="1132114"/>
            <a:ext cx="3914521" cy="22968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D47029-A226-619D-37AF-ED77F9A24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650" y="1038278"/>
            <a:ext cx="4070350" cy="2623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747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16553-7875-6B9B-745D-12B4F3A04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39148-CEE0-2990-384D-CC090B9D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64" y="402771"/>
            <a:ext cx="7406640" cy="718457"/>
          </a:xfrm>
        </p:spPr>
        <p:txBody>
          <a:bodyPr>
            <a:normAutofit/>
          </a:bodyPr>
          <a:lstStyle/>
          <a:p>
            <a:r>
              <a:rPr lang="en-GB" dirty="0"/>
              <a:t>Route Optimization Insights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4FF53-2801-A5BC-190F-45A94797E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284514"/>
            <a:ext cx="7404653" cy="517071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For each Route - Average transit time across all shipments</a:t>
            </a:r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select </a:t>
            </a:r>
            <a:r>
              <a:rPr lang="en-US" dirty="0" err="1">
                <a:solidFill>
                  <a:schemeClr val="accent4"/>
                </a:solidFill>
              </a:rPr>
              <a:t>s.Shipment_ID</a:t>
            </a:r>
            <a:r>
              <a:rPr lang="en-US" dirty="0">
                <a:solidFill>
                  <a:schemeClr val="accent4"/>
                </a:solidFill>
              </a:rPr>
              <a:t>, </a:t>
            </a:r>
            <a:r>
              <a:rPr lang="en-US" dirty="0" err="1">
                <a:solidFill>
                  <a:schemeClr val="accent4"/>
                </a:solidFill>
              </a:rPr>
              <a:t>r.Route_ID</a:t>
            </a:r>
            <a:r>
              <a:rPr lang="en-US" dirty="0">
                <a:solidFill>
                  <a:schemeClr val="accent4"/>
                </a:solidFill>
              </a:rPr>
              <a:t>, </a:t>
            </a:r>
            <a:r>
              <a:rPr lang="en-US" dirty="0" err="1">
                <a:solidFill>
                  <a:schemeClr val="accent4"/>
                </a:solidFill>
              </a:rPr>
              <a:t>r.Avg_Transit_Time_Hours</a:t>
            </a:r>
            <a:r>
              <a:rPr lang="en-US" dirty="0">
                <a:solidFill>
                  <a:schemeClr val="accent4"/>
                </a:solidFill>
              </a:rPr>
              <a:t> from </a:t>
            </a:r>
            <a:r>
              <a:rPr lang="en-US" dirty="0" err="1">
                <a:solidFill>
                  <a:schemeClr val="accent4"/>
                </a:solidFill>
              </a:rPr>
              <a:t>fedex_shipments</a:t>
            </a:r>
            <a:r>
              <a:rPr lang="en-US" dirty="0">
                <a:solidFill>
                  <a:schemeClr val="accent4"/>
                </a:solidFill>
              </a:rPr>
              <a:t> s left join </a:t>
            </a:r>
            <a:r>
              <a:rPr lang="en-US" dirty="0" err="1">
                <a:solidFill>
                  <a:schemeClr val="accent4"/>
                </a:solidFill>
              </a:rPr>
              <a:t>fedex_routes</a:t>
            </a:r>
            <a:r>
              <a:rPr lang="en-US" dirty="0">
                <a:solidFill>
                  <a:schemeClr val="accent4"/>
                </a:solidFill>
              </a:rPr>
              <a:t> r on </a:t>
            </a:r>
            <a:r>
              <a:rPr lang="en-US" dirty="0" err="1">
                <a:solidFill>
                  <a:schemeClr val="accent4"/>
                </a:solidFill>
              </a:rPr>
              <a:t>s.Route_ID</a:t>
            </a:r>
            <a:r>
              <a:rPr lang="en-US" dirty="0">
                <a:solidFill>
                  <a:schemeClr val="accent4"/>
                </a:solidFill>
              </a:rPr>
              <a:t> = </a:t>
            </a:r>
            <a:r>
              <a:rPr lang="en-US" dirty="0" err="1">
                <a:solidFill>
                  <a:schemeClr val="accent4"/>
                </a:solidFill>
              </a:rPr>
              <a:t>r.Route_ID</a:t>
            </a:r>
            <a:r>
              <a:rPr lang="en-US" dirty="0">
                <a:solidFill>
                  <a:schemeClr val="accent4"/>
                </a:solidFill>
              </a:rPr>
              <a:t>;</a:t>
            </a: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/>
          </a:p>
          <a:p>
            <a:r>
              <a:rPr lang="en-US" dirty="0"/>
              <a:t>Average delay per route</a:t>
            </a:r>
          </a:p>
          <a:p>
            <a:pPr marL="34290" indent="0">
              <a:buNone/>
            </a:pPr>
            <a:r>
              <a:rPr lang="en-GB" dirty="0">
                <a:solidFill>
                  <a:schemeClr val="accent4"/>
                </a:solidFill>
              </a:rPr>
              <a:t>select </a:t>
            </a:r>
            <a:r>
              <a:rPr lang="en-GB" dirty="0" err="1">
                <a:solidFill>
                  <a:schemeClr val="accent4"/>
                </a:solidFill>
              </a:rPr>
              <a:t>r.Route_ID</a:t>
            </a:r>
            <a:r>
              <a:rPr lang="en-GB" dirty="0">
                <a:solidFill>
                  <a:schemeClr val="accent4"/>
                </a:solidFill>
              </a:rPr>
              <a:t>, round(</a:t>
            </a:r>
            <a:r>
              <a:rPr lang="en-GB" dirty="0" err="1">
                <a:solidFill>
                  <a:schemeClr val="accent4"/>
                </a:solidFill>
              </a:rPr>
              <a:t>avg</a:t>
            </a:r>
            <a:r>
              <a:rPr lang="en-GB" dirty="0">
                <a:solidFill>
                  <a:schemeClr val="accent4"/>
                </a:solidFill>
              </a:rPr>
              <a:t>(</a:t>
            </a:r>
            <a:r>
              <a:rPr lang="en-GB" dirty="0" err="1">
                <a:solidFill>
                  <a:schemeClr val="accent4"/>
                </a:solidFill>
              </a:rPr>
              <a:t>s.Delay_Hours</a:t>
            </a:r>
            <a:r>
              <a:rPr lang="en-GB" dirty="0">
                <a:solidFill>
                  <a:schemeClr val="accent4"/>
                </a:solidFill>
              </a:rPr>
              <a:t>),1) as </a:t>
            </a:r>
            <a:r>
              <a:rPr lang="en-GB" dirty="0" err="1">
                <a:solidFill>
                  <a:schemeClr val="accent4"/>
                </a:solidFill>
              </a:rPr>
              <a:t>Avg_Delay</a:t>
            </a:r>
            <a:r>
              <a:rPr lang="en-GB" dirty="0">
                <a:solidFill>
                  <a:schemeClr val="accent4"/>
                </a:solidFill>
              </a:rPr>
              <a:t> from </a:t>
            </a:r>
            <a:r>
              <a:rPr lang="en-GB" dirty="0" err="1">
                <a:solidFill>
                  <a:schemeClr val="accent4"/>
                </a:solidFill>
              </a:rPr>
              <a:t>fedex_routes</a:t>
            </a:r>
            <a:r>
              <a:rPr lang="en-GB" dirty="0">
                <a:solidFill>
                  <a:schemeClr val="accent4"/>
                </a:solidFill>
              </a:rPr>
              <a:t> r left join </a:t>
            </a:r>
            <a:r>
              <a:rPr lang="en-GB" dirty="0" err="1">
                <a:solidFill>
                  <a:schemeClr val="accent4"/>
                </a:solidFill>
              </a:rPr>
              <a:t>fedex_shipments</a:t>
            </a:r>
            <a:r>
              <a:rPr lang="en-GB" dirty="0">
                <a:solidFill>
                  <a:schemeClr val="accent4"/>
                </a:solidFill>
              </a:rPr>
              <a:t> s on </a:t>
            </a:r>
            <a:r>
              <a:rPr lang="en-GB" dirty="0" err="1">
                <a:solidFill>
                  <a:schemeClr val="accent4"/>
                </a:solidFill>
              </a:rPr>
              <a:t>s.Route_ID</a:t>
            </a:r>
            <a:r>
              <a:rPr lang="en-GB" dirty="0">
                <a:solidFill>
                  <a:schemeClr val="accent4"/>
                </a:solidFill>
              </a:rPr>
              <a:t> = </a:t>
            </a:r>
            <a:r>
              <a:rPr lang="en-GB" dirty="0" err="1">
                <a:solidFill>
                  <a:schemeClr val="accent4"/>
                </a:solidFill>
              </a:rPr>
              <a:t>r.Route_IDgroup</a:t>
            </a:r>
            <a:r>
              <a:rPr lang="en-GB" dirty="0">
                <a:solidFill>
                  <a:schemeClr val="accent4"/>
                </a:solidFill>
              </a:rPr>
              <a:t> by </a:t>
            </a:r>
            <a:r>
              <a:rPr lang="en-GB" dirty="0" err="1">
                <a:solidFill>
                  <a:schemeClr val="accent4"/>
                </a:solidFill>
              </a:rPr>
              <a:t>r.Route_ID</a:t>
            </a:r>
            <a:r>
              <a:rPr lang="en-GB" dirty="0">
                <a:solidFill>
                  <a:schemeClr val="accent4"/>
                </a:solidFill>
              </a:rPr>
              <a:t> order by </a:t>
            </a:r>
            <a:r>
              <a:rPr lang="en-GB" dirty="0" err="1">
                <a:solidFill>
                  <a:schemeClr val="accent4"/>
                </a:solidFill>
              </a:rPr>
              <a:t>Avg_Delay</a:t>
            </a:r>
            <a:r>
              <a:rPr lang="en-GB" dirty="0">
                <a:solidFill>
                  <a:schemeClr val="accent4"/>
                </a:solidFill>
              </a:rPr>
              <a:t> </a:t>
            </a:r>
            <a:r>
              <a:rPr lang="en-GB" dirty="0" err="1">
                <a:solidFill>
                  <a:schemeClr val="accent4"/>
                </a:solidFill>
              </a:rPr>
              <a:t>desc</a:t>
            </a:r>
            <a:r>
              <a:rPr lang="en-GB" dirty="0">
                <a:solidFill>
                  <a:schemeClr val="accent4"/>
                </a:solidFill>
              </a:rPr>
              <a:t>;</a:t>
            </a:r>
          </a:p>
          <a:p>
            <a:pPr marL="34290" indent="0">
              <a:buNone/>
            </a:pPr>
            <a:endParaRPr lang="en-GB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GB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GB" dirty="0">
              <a:solidFill>
                <a:schemeClr val="accent4"/>
              </a:solidFill>
            </a:endParaRPr>
          </a:p>
          <a:p>
            <a:r>
              <a:rPr lang="en-US" dirty="0"/>
              <a:t>Distance-to-time efficiency ratio</a:t>
            </a:r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select </a:t>
            </a:r>
            <a:r>
              <a:rPr lang="en-US" dirty="0" err="1">
                <a:solidFill>
                  <a:schemeClr val="accent4"/>
                </a:solidFill>
              </a:rPr>
              <a:t>Route_ID</a:t>
            </a:r>
            <a:r>
              <a:rPr lang="en-US" dirty="0">
                <a:solidFill>
                  <a:schemeClr val="accent4"/>
                </a:solidFill>
              </a:rPr>
              <a:t>, round(</a:t>
            </a:r>
            <a:r>
              <a:rPr lang="en-US" dirty="0" err="1">
                <a:solidFill>
                  <a:schemeClr val="accent4"/>
                </a:solidFill>
              </a:rPr>
              <a:t>Distance_KM</a:t>
            </a:r>
            <a:r>
              <a:rPr lang="en-US" dirty="0">
                <a:solidFill>
                  <a:schemeClr val="accent4"/>
                </a:solidFill>
              </a:rPr>
              <a:t>/Avg_Transit_Time_Hours,2) as </a:t>
            </a:r>
            <a:r>
              <a:rPr lang="en-US" dirty="0" err="1">
                <a:solidFill>
                  <a:schemeClr val="accent4"/>
                </a:solidFill>
              </a:rPr>
              <a:t>Distance_To_Time_Ratiofrom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 err="1">
                <a:solidFill>
                  <a:schemeClr val="accent4"/>
                </a:solidFill>
              </a:rPr>
              <a:t>fedex_routes</a:t>
            </a:r>
            <a:r>
              <a:rPr lang="en-US" dirty="0">
                <a:solidFill>
                  <a:schemeClr val="accent4"/>
                </a:solidFill>
              </a:rPr>
              <a:t> order by </a:t>
            </a:r>
            <a:r>
              <a:rPr lang="en-US" dirty="0" err="1">
                <a:solidFill>
                  <a:schemeClr val="accent4"/>
                </a:solidFill>
              </a:rPr>
              <a:t>Distance_To_Time_Ratio</a:t>
            </a:r>
            <a:r>
              <a:rPr lang="en-US" dirty="0">
                <a:solidFill>
                  <a:schemeClr val="accent4"/>
                </a:solidFill>
              </a:rPr>
              <a:t> desc;</a:t>
            </a: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`</a:t>
            </a: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0A30C3-4FFF-0A4F-EB63-F60113855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987" y="2084618"/>
            <a:ext cx="4261695" cy="7728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CD7962-E8F5-D14D-BF73-1ECEF1EB4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985" y="3869871"/>
            <a:ext cx="4261695" cy="8300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0FA70E-9AE9-A495-9E46-118702586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8986" y="5573486"/>
            <a:ext cx="4261695" cy="88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364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C7BDB-53ED-15B8-7C9D-EE62DB5D5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ADE62-8132-84FD-B2F2-D53286B49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64" y="402771"/>
            <a:ext cx="7406640" cy="718457"/>
          </a:xfrm>
        </p:spPr>
        <p:txBody>
          <a:bodyPr>
            <a:normAutofit/>
          </a:bodyPr>
          <a:lstStyle/>
          <a:p>
            <a:r>
              <a:rPr lang="en-GB" dirty="0"/>
              <a:t>Route Optimization Insights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9197A-35F1-BB9C-7C73-EDBE34FE6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284514"/>
            <a:ext cx="7404653" cy="481148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Worst 3 routes with the lowest efficiency ratio</a:t>
            </a:r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select </a:t>
            </a:r>
            <a:r>
              <a:rPr lang="en-US" dirty="0" err="1">
                <a:solidFill>
                  <a:schemeClr val="accent4"/>
                </a:solidFill>
              </a:rPr>
              <a:t>Route_ID</a:t>
            </a:r>
            <a:r>
              <a:rPr lang="en-US" dirty="0">
                <a:solidFill>
                  <a:schemeClr val="accent4"/>
                </a:solidFill>
              </a:rPr>
              <a:t>, round(</a:t>
            </a:r>
            <a:r>
              <a:rPr lang="en-US" dirty="0" err="1">
                <a:solidFill>
                  <a:schemeClr val="accent4"/>
                </a:solidFill>
              </a:rPr>
              <a:t>Distance_KM</a:t>
            </a:r>
            <a:r>
              <a:rPr lang="en-US" dirty="0">
                <a:solidFill>
                  <a:schemeClr val="accent4"/>
                </a:solidFill>
              </a:rPr>
              <a:t>/Avg_Transit_Time_Hours,2) as </a:t>
            </a:r>
            <a:r>
              <a:rPr lang="en-US" dirty="0" err="1">
                <a:solidFill>
                  <a:schemeClr val="accent4"/>
                </a:solidFill>
              </a:rPr>
              <a:t>Distance_To_Time_Ratiofrom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 err="1">
                <a:solidFill>
                  <a:schemeClr val="accent4"/>
                </a:solidFill>
              </a:rPr>
              <a:t>fedex_routes</a:t>
            </a:r>
            <a:r>
              <a:rPr lang="en-US" dirty="0">
                <a:solidFill>
                  <a:schemeClr val="accent4"/>
                </a:solidFill>
              </a:rPr>
              <a:t> order by </a:t>
            </a:r>
            <a:r>
              <a:rPr lang="en-US" dirty="0" err="1">
                <a:solidFill>
                  <a:schemeClr val="accent4"/>
                </a:solidFill>
              </a:rPr>
              <a:t>Distance_To_Time_Ratio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 err="1">
                <a:solidFill>
                  <a:schemeClr val="accent4"/>
                </a:solidFill>
              </a:rPr>
              <a:t>asc</a:t>
            </a:r>
            <a:r>
              <a:rPr lang="en-US" dirty="0">
                <a:solidFill>
                  <a:schemeClr val="accent4"/>
                </a:solidFill>
              </a:rPr>
              <a:t> limit 3;</a:t>
            </a: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r>
              <a:rPr lang="en-US" dirty="0"/>
              <a:t>Routes with &gt;20% of shipments delayed beyond expected transit time</a:t>
            </a:r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With </a:t>
            </a:r>
            <a:r>
              <a:rPr lang="en-US" dirty="0" err="1">
                <a:solidFill>
                  <a:schemeClr val="accent4"/>
                </a:solidFill>
              </a:rPr>
              <a:t>cte</a:t>
            </a:r>
            <a:r>
              <a:rPr lang="en-US" dirty="0">
                <a:solidFill>
                  <a:schemeClr val="accent4"/>
                </a:solidFill>
              </a:rPr>
              <a:t> as (select </a:t>
            </a:r>
            <a:r>
              <a:rPr lang="en-US" dirty="0" err="1">
                <a:solidFill>
                  <a:schemeClr val="accent4"/>
                </a:solidFill>
              </a:rPr>
              <a:t>s.Shipment_ID</a:t>
            </a:r>
            <a:r>
              <a:rPr lang="en-US" dirty="0">
                <a:solidFill>
                  <a:schemeClr val="accent4"/>
                </a:solidFill>
              </a:rPr>
              <a:t>, </a:t>
            </a:r>
            <a:r>
              <a:rPr lang="en-US" dirty="0" err="1">
                <a:solidFill>
                  <a:schemeClr val="accent4"/>
                </a:solidFill>
              </a:rPr>
              <a:t>s.Route_ID</a:t>
            </a:r>
            <a:r>
              <a:rPr lang="en-US" dirty="0">
                <a:solidFill>
                  <a:schemeClr val="accent4"/>
                </a:solidFill>
              </a:rPr>
              <a:t>, </a:t>
            </a:r>
            <a:r>
              <a:rPr lang="en-US" dirty="0" err="1">
                <a:solidFill>
                  <a:schemeClr val="accent4"/>
                </a:solidFill>
              </a:rPr>
              <a:t>r.Avg_Transit_Time_Hours</a:t>
            </a:r>
            <a:r>
              <a:rPr lang="en-US" dirty="0">
                <a:solidFill>
                  <a:schemeClr val="accent4"/>
                </a:solidFill>
              </a:rPr>
              <a:t>, </a:t>
            </a:r>
            <a:r>
              <a:rPr lang="en-US" dirty="0" err="1">
                <a:solidFill>
                  <a:schemeClr val="accent4"/>
                </a:solidFill>
              </a:rPr>
              <a:t>s.Delay_Hoursfrom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 err="1">
                <a:solidFill>
                  <a:schemeClr val="accent4"/>
                </a:solidFill>
              </a:rPr>
              <a:t>fedex_shipments</a:t>
            </a:r>
            <a:r>
              <a:rPr lang="en-US" dirty="0">
                <a:solidFill>
                  <a:schemeClr val="accent4"/>
                </a:solidFill>
              </a:rPr>
              <a:t> s join </a:t>
            </a:r>
            <a:r>
              <a:rPr lang="en-US" dirty="0" err="1">
                <a:solidFill>
                  <a:schemeClr val="accent4"/>
                </a:solidFill>
              </a:rPr>
              <a:t>fedex_routes</a:t>
            </a:r>
            <a:r>
              <a:rPr lang="en-US" dirty="0">
                <a:solidFill>
                  <a:schemeClr val="accent4"/>
                </a:solidFill>
              </a:rPr>
              <a:t> r on </a:t>
            </a:r>
            <a:r>
              <a:rPr lang="en-US" dirty="0" err="1">
                <a:solidFill>
                  <a:schemeClr val="accent4"/>
                </a:solidFill>
              </a:rPr>
              <a:t>s.Route_ID</a:t>
            </a:r>
            <a:r>
              <a:rPr lang="en-US" dirty="0">
                <a:solidFill>
                  <a:schemeClr val="accent4"/>
                </a:solidFill>
              </a:rPr>
              <a:t> = </a:t>
            </a:r>
            <a:r>
              <a:rPr lang="en-US" dirty="0" err="1">
                <a:solidFill>
                  <a:schemeClr val="accent4"/>
                </a:solidFill>
              </a:rPr>
              <a:t>r.Route_ID</a:t>
            </a:r>
            <a:r>
              <a:rPr lang="en-US" dirty="0">
                <a:solidFill>
                  <a:schemeClr val="accent4"/>
                </a:solidFill>
              </a:rPr>
              <a:t>)</a:t>
            </a:r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select </a:t>
            </a:r>
            <a:r>
              <a:rPr lang="en-US" dirty="0" err="1">
                <a:solidFill>
                  <a:schemeClr val="accent4"/>
                </a:solidFill>
              </a:rPr>
              <a:t>Route_ID</a:t>
            </a:r>
            <a:r>
              <a:rPr lang="en-US" dirty="0">
                <a:solidFill>
                  <a:schemeClr val="accent4"/>
                </a:solidFill>
              </a:rPr>
              <a:t>, round(count(case when </a:t>
            </a:r>
            <a:r>
              <a:rPr lang="en-US" dirty="0" err="1">
                <a:solidFill>
                  <a:schemeClr val="accent4"/>
                </a:solidFill>
              </a:rPr>
              <a:t>Delay_Hours</a:t>
            </a:r>
            <a:r>
              <a:rPr lang="en-US" dirty="0">
                <a:solidFill>
                  <a:schemeClr val="accent4"/>
                </a:solidFill>
              </a:rPr>
              <a:t>&gt;</a:t>
            </a:r>
            <a:r>
              <a:rPr lang="en-US" dirty="0" err="1">
                <a:solidFill>
                  <a:schemeClr val="accent4"/>
                </a:solidFill>
              </a:rPr>
              <a:t>Avg_Transit_Time_Hours</a:t>
            </a:r>
            <a:r>
              <a:rPr lang="en-US" dirty="0">
                <a:solidFill>
                  <a:schemeClr val="accent4"/>
                </a:solidFill>
              </a:rPr>
              <a:t> then 1 end)*100/count(*),2) as </a:t>
            </a:r>
            <a:r>
              <a:rPr lang="en-US" dirty="0" err="1">
                <a:solidFill>
                  <a:schemeClr val="accent4"/>
                </a:solidFill>
              </a:rPr>
              <a:t>Percent_Delayed_Beyond_Transit_Time</a:t>
            </a:r>
            <a:r>
              <a:rPr lang="en-US" dirty="0">
                <a:solidFill>
                  <a:schemeClr val="accent4"/>
                </a:solidFill>
              </a:rPr>
              <a:t> from </a:t>
            </a:r>
            <a:r>
              <a:rPr lang="en-US" dirty="0" err="1">
                <a:solidFill>
                  <a:schemeClr val="accent4"/>
                </a:solidFill>
              </a:rPr>
              <a:t>cte</a:t>
            </a:r>
            <a:r>
              <a:rPr lang="en-US" dirty="0">
                <a:solidFill>
                  <a:schemeClr val="accent4"/>
                </a:solidFill>
              </a:rPr>
              <a:t> group by </a:t>
            </a:r>
            <a:r>
              <a:rPr lang="en-US" dirty="0" err="1">
                <a:solidFill>
                  <a:schemeClr val="accent4"/>
                </a:solidFill>
              </a:rPr>
              <a:t>Route_ID</a:t>
            </a:r>
            <a:r>
              <a:rPr lang="en-US" dirty="0">
                <a:solidFill>
                  <a:schemeClr val="accent4"/>
                </a:solidFill>
              </a:rPr>
              <a:t> having </a:t>
            </a:r>
            <a:r>
              <a:rPr lang="en-US" dirty="0" err="1">
                <a:solidFill>
                  <a:schemeClr val="accent4"/>
                </a:solidFill>
              </a:rPr>
              <a:t>Percent_Delayed_Beyond_Transit_Time</a:t>
            </a:r>
            <a:r>
              <a:rPr lang="en-US" dirty="0">
                <a:solidFill>
                  <a:schemeClr val="accent4"/>
                </a:solidFill>
              </a:rPr>
              <a:t> &gt; 20order by </a:t>
            </a:r>
            <a:r>
              <a:rPr lang="en-US" dirty="0" err="1">
                <a:solidFill>
                  <a:schemeClr val="accent4"/>
                </a:solidFill>
              </a:rPr>
              <a:t>Percent_Delayed_Beyond_Transit_Time</a:t>
            </a:r>
            <a:r>
              <a:rPr lang="en-US" dirty="0">
                <a:solidFill>
                  <a:schemeClr val="accent4"/>
                </a:solidFill>
              </a:rPr>
              <a:t> desc;</a:t>
            </a: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`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6E447E-315E-B48E-0FFE-F8F22B322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463" y="2394857"/>
            <a:ext cx="4998022" cy="8817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8CCE33-DCC8-5E3A-6AAD-D73918DE8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463" y="5464629"/>
            <a:ext cx="4998022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23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255F0D-77D4-073C-CEA7-DABF39C6D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B71362F-6305-42A2-8633-285CE3813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243840"/>
            <a:ext cx="879348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1F50C1-F708-485D-B1A9-65873AB21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243840"/>
            <a:ext cx="879348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AF7F52A-561E-4CE4-A251-1565CF80F2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995" y="3733800"/>
            <a:ext cx="6172200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B67E998-E312-45A7-A84D-81D9342085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995" y="5462458"/>
            <a:ext cx="6172200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3361458-0704-7632-0EF6-27697F284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485" y="4208424"/>
            <a:ext cx="747522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85000"/>
              </a:lnSpc>
            </a:pPr>
            <a:r>
              <a:rPr lang="en-US" sz="4400" b="1" cap="all">
                <a:solidFill>
                  <a:srgbClr val="FFFFFF"/>
                </a:solidFill>
              </a:rPr>
              <a:t>Route Optimization Visuals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A3BFD8-1DCA-4E53-9E5F-9292C9BE3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243841"/>
            <a:ext cx="8791575" cy="3964584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DAAA657-4E43-54FF-D75D-7A75A60930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6829" y="1146648"/>
            <a:ext cx="3914521" cy="21909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4A26D7-7D29-DF87-234F-973675B79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650" y="1038279"/>
            <a:ext cx="3797935" cy="238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8113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92C5D-DBA4-D936-64E9-5A4EEA3CB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33A06-ED96-B74A-5571-FCBE786F0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64" y="402771"/>
            <a:ext cx="7406640" cy="718457"/>
          </a:xfrm>
        </p:spPr>
        <p:txBody>
          <a:bodyPr>
            <a:normAutofit/>
          </a:bodyPr>
          <a:lstStyle/>
          <a:p>
            <a:r>
              <a:rPr lang="en-GB" dirty="0"/>
              <a:t>Route Optimization Insights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B797B-61B4-63FF-D281-967EBD39A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284514"/>
            <a:ext cx="7404653" cy="4811486"/>
          </a:xfrm>
        </p:spPr>
        <p:txBody>
          <a:bodyPr>
            <a:normAutofit/>
          </a:bodyPr>
          <a:lstStyle/>
          <a:p>
            <a:pPr marL="34290" indent="0">
              <a:buNone/>
            </a:pPr>
            <a:r>
              <a:rPr lang="en-US" dirty="0"/>
              <a:t>Insights :</a:t>
            </a:r>
          </a:p>
          <a:p>
            <a:pPr marL="34290" indent="0">
              <a:buNone/>
            </a:pPr>
            <a:r>
              <a:rPr lang="en-US" dirty="0">
                <a:solidFill>
                  <a:schemeClr val="accent2"/>
                </a:solidFill>
              </a:rPr>
              <a:t>Average Delay hours of Route 2 and 7 are very high (41 and 34). These routes need proper optimizations. In terms of Distance to time efficiency Route 3, 15, 6 are the worst of all. Routes 8, 2, 7 have the highest percentage of delayed shipments close to 36%.</a:t>
            </a:r>
          </a:p>
          <a:p>
            <a:pPr marL="34290" indent="0">
              <a:buNone/>
            </a:pPr>
            <a:r>
              <a:rPr lang="en-US" dirty="0"/>
              <a:t>Recommendation for potential routes for optimization:</a:t>
            </a:r>
          </a:p>
          <a:p>
            <a:r>
              <a:rPr lang="en-US" dirty="0">
                <a:solidFill>
                  <a:schemeClr val="tx2"/>
                </a:solidFill>
              </a:rPr>
              <a:t>For these routes - we must investigate recurring bottlenecks such as customs clearance, congestion, or warehouse overload.</a:t>
            </a:r>
          </a:p>
          <a:p>
            <a:r>
              <a:rPr lang="en-US" dirty="0">
                <a:solidFill>
                  <a:schemeClr val="tx2"/>
                </a:solidFill>
              </a:rPr>
              <a:t>Introduce alternate routing during peak shipment periods and optimize route planning to reduce unnecessary idle time.</a:t>
            </a:r>
          </a:p>
          <a:p>
            <a:r>
              <a:rPr lang="en-US" dirty="0">
                <a:solidFill>
                  <a:schemeClr val="tx2"/>
                </a:solidFill>
              </a:rPr>
              <a:t>Prioritize delay alerts for these routes and deploy experienced delivery agents in high-risk zones.</a:t>
            </a:r>
          </a:p>
          <a:p>
            <a:pPr marL="3429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907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2295A-72AB-85F3-E15B-85B3E3DF9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159A4-1642-8C40-2B70-6940E67AF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64" y="402771"/>
            <a:ext cx="7406640" cy="718457"/>
          </a:xfrm>
        </p:spPr>
        <p:txBody>
          <a:bodyPr>
            <a:normAutofit/>
          </a:bodyPr>
          <a:lstStyle/>
          <a:p>
            <a:r>
              <a:rPr lang="en-US" dirty="0"/>
              <a:t>Warehouse Performance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8FC61-F8B4-4A56-5AC1-B271F8D44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284514"/>
            <a:ext cx="7404653" cy="481148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Top 3 warehouses with the highest average delay in shipments dispatched</a:t>
            </a:r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select </a:t>
            </a:r>
            <a:r>
              <a:rPr lang="en-US" dirty="0" err="1">
                <a:solidFill>
                  <a:schemeClr val="accent4"/>
                </a:solidFill>
              </a:rPr>
              <a:t>Warehouse_ID</a:t>
            </a:r>
            <a:r>
              <a:rPr lang="en-US" dirty="0">
                <a:solidFill>
                  <a:schemeClr val="accent4"/>
                </a:solidFill>
              </a:rPr>
              <a:t>, round(avg(</a:t>
            </a:r>
            <a:r>
              <a:rPr lang="en-US" dirty="0" err="1">
                <a:solidFill>
                  <a:schemeClr val="accent4"/>
                </a:solidFill>
              </a:rPr>
              <a:t>Delay_Hours</a:t>
            </a:r>
            <a:r>
              <a:rPr lang="en-US" dirty="0">
                <a:solidFill>
                  <a:schemeClr val="accent4"/>
                </a:solidFill>
              </a:rPr>
              <a:t>),2) as </a:t>
            </a:r>
            <a:r>
              <a:rPr lang="en-US" dirty="0" err="1">
                <a:solidFill>
                  <a:schemeClr val="accent4"/>
                </a:solidFill>
              </a:rPr>
              <a:t>Average_Delay</a:t>
            </a:r>
            <a:r>
              <a:rPr lang="en-US" dirty="0">
                <a:solidFill>
                  <a:schemeClr val="accent4"/>
                </a:solidFill>
              </a:rPr>
              <a:t> from </a:t>
            </a:r>
            <a:r>
              <a:rPr lang="en-US" dirty="0" err="1">
                <a:solidFill>
                  <a:schemeClr val="accent4"/>
                </a:solidFill>
              </a:rPr>
              <a:t>fedex_shipments</a:t>
            </a:r>
            <a:r>
              <a:rPr lang="en-US" dirty="0">
                <a:solidFill>
                  <a:schemeClr val="accent4"/>
                </a:solidFill>
              </a:rPr>
              <a:t> group by </a:t>
            </a:r>
            <a:r>
              <a:rPr lang="en-US" dirty="0" err="1">
                <a:solidFill>
                  <a:schemeClr val="accent4"/>
                </a:solidFill>
              </a:rPr>
              <a:t>Warehouse_IDorder</a:t>
            </a:r>
            <a:r>
              <a:rPr lang="en-US" dirty="0">
                <a:solidFill>
                  <a:schemeClr val="accent4"/>
                </a:solidFill>
              </a:rPr>
              <a:t> by </a:t>
            </a:r>
            <a:r>
              <a:rPr lang="en-US" dirty="0" err="1">
                <a:solidFill>
                  <a:schemeClr val="accent4"/>
                </a:solidFill>
              </a:rPr>
              <a:t>Average_Delay</a:t>
            </a:r>
            <a:r>
              <a:rPr lang="en-US" dirty="0">
                <a:solidFill>
                  <a:schemeClr val="accent4"/>
                </a:solidFill>
              </a:rPr>
              <a:t> desc limit 3;</a:t>
            </a: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r>
              <a:rPr lang="en-US" dirty="0"/>
              <a:t>Total shipments vs Delayed shipments for each warehouse</a:t>
            </a:r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select </a:t>
            </a:r>
            <a:r>
              <a:rPr lang="en-US" dirty="0" err="1">
                <a:solidFill>
                  <a:schemeClr val="accent4"/>
                </a:solidFill>
              </a:rPr>
              <a:t>Warehouse_ID</a:t>
            </a:r>
            <a:r>
              <a:rPr lang="en-US" dirty="0">
                <a:solidFill>
                  <a:schemeClr val="accent4"/>
                </a:solidFill>
              </a:rPr>
              <a:t>, count(*) as </a:t>
            </a:r>
            <a:r>
              <a:rPr lang="en-US" dirty="0" err="1">
                <a:solidFill>
                  <a:schemeClr val="accent4"/>
                </a:solidFill>
              </a:rPr>
              <a:t>Total_Shipments</a:t>
            </a:r>
            <a:r>
              <a:rPr lang="en-US" dirty="0">
                <a:solidFill>
                  <a:schemeClr val="accent4"/>
                </a:solidFill>
              </a:rPr>
              <a:t>, count(case when </a:t>
            </a:r>
            <a:r>
              <a:rPr lang="en-US" dirty="0" err="1">
                <a:solidFill>
                  <a:schemeClr val="accent4"/>
                </a:solidFill>
              </a:rPr>
              <a:t>Delay_Hours</a:t>
            </a:r>
            <a:r>
              <a:rPr lang="en-US" dirty="0">
                <a:solidFill>
                  <a:schemeClr val="accent4"/>
                </a:solidFill>
              </a:rPr>
              <a:t>&gt;0 then 1 end) as </a:t>
            </a:r>
            <a:r>
              <a:rPr lang="en-US" dirty="0" err="1">
                <a:solidFill>
                  <a:schemeClr val="accent4"/>
                </a:solidFill>
              </a:rPr>
              <a:t>Delayed_Shipments,round</a:t>
            </a:r>
            <a:r>
              <a:rPr lang="en-US" dirty="0">
                <a:solidFill>
                  <a:schemeClr val="accent4"/>
                </a:solidFill>
              </a:rPr>
              <a:t>(count(case when </a:t>
            </a:r>
            <a:r>
              <a:rPr lang="en-US" dirty="0" err="1">
                <a:solidFill>
                  <a:schemeClr val="accent4"/>
                </a:solidFill>
              </a:rPr>
              <a:t>Delay_Hours</a:t>
            </a:r>
            <a:r>
              <a:rPr lang="en-US" dirty="0">
                <a:solidFill>
                  <a:schemeClr val="accent4"/>
                </a:solidFill>
              </a:rPr>
              <a:t>&gt;0 then 1 end)*100/count(*),2) as </a:t>
            </a:r>
            <a:r>
              <a:rPr lang="en-US" dirty="0" err="1">
                <a:solidFill>
                  <a:schemeClr val="accent4"/>
                </a:solidFill>
              </a:rPr>
              <a:t>Percentagefrom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 err="1">
                <a:solidFill>
                  <a:schemeClr val="accent4"/>
                </a:solidFill>
              </a:rPr>
              <a:t>fedex_shipments</a:t>
            </a:r>
            <a:r>
              <a:rPr lang="en-US" dirty="0">
                <a:solidFill>
                  <a:schemeClr val="accent4"/>
                </a:solidFill>
              </a:rPr>
              <a:t> group by </a:t>
            </a:r>
            <a:r>
              <a:rPr lang="en-US" dirty="0" err="1">
                <a:solidFill>
                  <a:schemeClr val="accent4"/>
                </a:solidFill>
              </a:rPr>
              <a:t>Warehouse_IDorder</a:t>
            </a:r>
            <a:r>
              <a:rPr lang="en-US" dirty="0">
                <a:solidFill>
                  <a:schemeClr val="accent4"/>
                </a:solidFill>
              </a:rPr>
              <a:t> by Percentage desc;</a:t>
            </a: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`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A608B4-A1B7-A827-5534-1CA41A7AC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057" y="2275114"/>
            <a:ext cx="5660572" cy="11538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6E7E73-3605-C534-7256-D540ED515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057" y="4994967"/>
            <a:ext cx="5660572" cy="126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609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C074C-B3F0-8157-26B8-8DD6F1210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AF315-7849-1D81-0451-C4A1F05EB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64" y="402771"/>
            <a:ext cx="7406640" cy="718457"/>
          </a:xfrm>
        </p:spPr>
        <p:txBody>
          <a:bodyPr>
            <a:normAutofit/>
          </a:bodyPr>
          <a:lstStyle/>
          <a:p>
            <a:r>
              <a:rPr lang="en-US" dirty="0"/>
              <a:t>Warehouse Performance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B115B-22A0-327A-4993-CA65BBF55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284514"/>
            <a:ext cx="7404653" cy="481148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Warehouses where average delay exceeds the global average delay</a:t>
            </a:r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with </a:t>
            </a:r>
            <a:r>
              <a:rPr lang="en-US" dirty="0" err="1">
                <a:solidFill>
                  <a:schemeClr val="accent4"/>
                </a:solidFill>
              </a:rPr>
              <a:t>cte</a:t>
            </a:r>
            <a:r>
              <a:rPr lang="en-US" dirty="0">
                <a:solidFill>
                  <a:schemeClr val="accent4"/>
                </a:solidFill>
              </a:rPr>
              <a:t> as (select avg(</a:t>
            </a:r>
            <a:r>
              <a:rPr lang="en-US" dirty="0" err="1">
                <a:solidFill>
                  <a:schemeClr val="accent4"/>
                </a:solidFill>
              </a:rPr>
              <a:t>delay_hours</a:t>
            </a:r>
            <a:r>
              <a:rPr lang="en-US" dirty="0">
                <a:solidFill>
                  <a:schemeClr val="accent4"/>
                </a:solidFill>
              </a:rPr>
              <a:t>) as </a:t>
            </a:r>
            <a:r>
              <a:rPr lang="en-US" dirty="0" err="1">
                <a:solidFill>
                  <a:schemeClr val="accent4"/>
                </a:solidFill>
              </a:rPr>
              <a:t>Global_Avg_Delay</a:t>
            </a:r>
            <a:r>
              <a:rPr lang="en-US" dirty="0">
                <a:solidFill>
                  <a:schemeClr val="accent4"/>
                </a:solidFill>
              </a:rPr>
              <a:t> from </a:t>
            </a:r>
            <a:r>
              <a:rPr lang="en-US" dirty="0" err="1">
                <a:solidFill>
                  <a:schemeClr val="accent4"/>
                </a:solidFill>
              </a:rPr>
              <a:t>fedex_shipments</a:t>
            </a:r>
            <a:r>
              <a:rPr lang="en-US" dirty="0">
                <a:solidFill>
                  <a:schemeClr val="accent4"/>
                </a:solidFill>
              </a:rPr>
              <a:t>)</a:t>
            </a:r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select </a:t>
            </a:r>
            <a:r>
              <a:rPr lang="en-US" dirty="0" err="1">
                <a:solidFill>
                  <a:schemeClr val="accent4"/>
                </a:solidFill>
              </a:rPr>
              <a:t>Warehouse_ID</a:t>
            </a:r>
            <a:r>
              <a:rPr lang="en-US" dirty="0">
                <a:solidFill>
                  <a:schemeClr val="accent4"/>
                </a:solidFill>
              </a:rPr>
              <a:t> from </a:t>
            </a:r>
            <a:r>
              <a:rPr lang="en-US" dirty="0" err="1">
                <a:solidFill>
                  <a:schemeClr val="accent4"/>
                </a:solidFill>
              </a:rPr>
              <a:t>fedex_shipmentsgroup</a:t>
            </a:r>
            <a:r>
              <a:rPr lang="en-US" dirty="0">
                <a:solidFill>
                  <a:schemeClr val="accent4"/>
                </a:solidFill>
              </a:rPr>
              <a:t> by </a:t>
            </a:r>
            <a:r>
              <a:rPr lang="en-US" dirty="0" err="1">
                <a:solidFill>
                  <a:schemeClr val="accent4"/>
                </a:solidFill>
              </a:rPr>
              <a:t>Warehouse_ID</a:t>
            </a:r>
            <a:r>
              <a:rPr lang="en-US" dirty="0">
                <a:solidFill>
                  <a:schemeClr val="accent4"/>
                </a:solidFill>
              </a:rPr>
              <a:t> having avg(</a:t>
            </a:r>
            <a:r>
              <a:rPr lang="en-US" dirty="0" err="1">
                <a:solidFill>
                  <a:schemeClr val="accent4"/>
                </a:solidFill>
              </a:rPr>
              <a:t>delay_hours</a:t>
            </a:r>
            <a:r>
              <a:rPr lang="en-US" dirty="0">
                <a:solidFill>
                  <a:schemeClr val="accent4"/>
                </a:solidFill>
              </a:rPr>
              <a:t>) &gt; (select </a:t>
            </a:r>
            <a:r>
              <a:rPr lang="en-US" dirty="0" err="1">
                <a:solidFill>
                  <a:schemeClr val="accent4"/>
                </a:solidFill>
              </a:rPr>
              <a:t>Global_Avg_Delay</a:t>
            </a:r>
            <a:r>
              <a:rPr lang="en-US" dirty="0">
                <a:solidFill>
                  <a:schemeClr val="accent4"/>
                </a:solidFill>
              </a:rPr>
              <a:t> from </a:t>
            </a:r>
            <a:r>
              <a:rPr lang="en-US" dirty="0" err="1">
                <a:solidFill>
                  <a:schemeClr val="accent4"/>
                </a:solidFill>
              </a:rPr>
              <a:t>cte</a:t>
            </a:r>
            <a:r>
              <a:rPr lang="en-US" dirty="0">
                <a:solidFill>
                  <a:schemeClr val="accent4"/>
                </a:solidFill>
              </a:rPr>
              <a:t>);</a:t>
            </a: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r>
              <a:rPr lang="en-US" dirty="0"/>
              <a:t>Ranking all warehouses based on on-time delivery percentage</a:t>
            </a:r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with </a:t>
            </a:r>
            <a:r>
              <a:rPr lang="en-US" dirty="0" err="1">
                <a:solidFill>
                  <a:schemeClr val="accent4"/>
                </a:solidFill>
              </a:rPr>
              <a:t>cte</a:t>
            </a:r>
            <a:r>
              <a:rPr lang="en-US" dirty="0">
                <a:solidFill>
                  <a:schemeClr val="accent4"/>
                </a:solidFill>
              </a:rPr>
              <a:t> as (select </a:t>
            </a:r>
            <a:r>
              <a:rPr lang="en-US" dirty="0" err="1">
                <a:solidFill>
                  <a:schemeClr val="accent4"/>
                </a:solidFill>
              </a:rPr>
              <a:t>Warehouse_ID</a:t>
            </a:r>
            <a:r>
              <a:rPr lang="en-US" dirty="0">
                <a:solidFill>
                  <a:schemeClr val="accent4"/>
                </a:solidFill>
              </a:rPr>
              <a:t>, count(*) as </a:t>
            </a:r>
            <a:r>
              <a:rPr lang="en-US" dirty="0" err="1">
                <a:solidFill>
                  <a:schemeClr val="accent4"/>
                </a:solidFill>
              </a:rPr>
              <a:t>Total_Shipments</a:t>
            </a:r>
            <a:r>
              <a:rPr lang="en-US" dirty="0">
                <a:solidFill>
                  <a:schemeClr val="accent4"/>
                </a:solidFill>
              </a:rPr>
              <a:t>, round((1-(count(case when </a:t>
            </a:r>
            <a:r>
              <a:rPr lang="en-US" dirty="0" err="1">
                <a:solidFill>
                  <a:schemeClr val="accent4"/>
                </a:solidFill>
              </a:rPr>
              <a:t>Delay_Hours</a:t>
            </a:r>
            <a:r>
              <a:rPr lang="en-US" dirty="0">
                <a:solidFill>
                  <a:schemeClr val="accent4"/>
                </a:solidFill>
              </a:rPr>
              <a:t>&gt;0 then 1 end)/count(*)))*100,2) as </a:t>
            </a:r>
            <a:r>
              <a:rPr lang="en-US" dirty="0" err="1">
                <a:solidFill>
                  <a:schemeClr val="accent4"/>
                </a:solidFill>
              </a:rPr>
              <a:t>On_Time_Percentage</a:t>
            </a:r>
            <a:r>
              <a:rPr lang="en-US" dirty="0">
                <a:solidFill>
                  <a:schemeClr val="accent4"/>
                </a:solidFill>
              </a:rPr>
              <a:t> from </a:t>
            </a:r>
            <a:r>
              <a:rPr lang="en-US" dirty="0" err="1">
                <a:solidFill>
                  <a:schemeClr val="accent4"/>
                </a:solidFill>
              </a:rPr>
              <a:t>fedex_shipments</a:t>
            </a:r>
            <a:r>
              <a:rPr lang="en-US" dirty="0">
                <a:solidFill>
                  <a:schemeClr val="accent4"/>
                </a:solidFill>
              </a:rPr>
              <a:t> group by </a:t>
            </a:r>
            <a:r>
              <a:rPr lang="en-US" dirty="0" err="1">
                <a:solidFill>
                  <a:schemeClr val="accent4"/>
                </a:solidFill>
              </a:rPr>
              <a:t>Warehouse_ID</a:t>
            </a:r>
            <a:r>
              <a:rPr lang="en-US" dirty="0">
                <a:solidFill>
                  <a:schemeClr val="accent4"/>
                </a:solidFill>
              </a:rPr>
              <a:t> )</a:t>
            </a:r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select *, </a:t>
            </a:r>
            <a:r>
              <a:rPr lang="en-US" dirty="0" err="1">
                <a:solidFill>
                  <a:schemeClr val="accent4"/>
                </a:solidFill>
              </a:rPr>
              <a:t>dense_rank</a:t>
            </a:r>
            <a:r>
              <a:rPr lang="en-US" dirty="0">
                <a:solidFill>
                  <a:schemeClr val="accent4"/>
                </a:solidFill>
              </a:rPr>
              <a:t>() over(order by </a:t>
            </a:r>
            <a:r>
              <a:rPr lang="en-US" dirty="0" err="1">
                <a:solidFill>
                  <a:schemeClr val="accent4"/>
                </a:solidFill>
              </a:rPr>
              <a:t>On_Time_Percentage</a:t>
            </a:r>
            <a:r>
              <a:rPr lang="en-US" dirty="0">
                <a:solidFill>
                  <a:schemeClr val="accent4"/>
                </a:solidFill>
              </a:rPr>
              <a:t> desc) as Ranking from </a:t>
            </a:r>
            <a:r>
              <a:rPr lang="en-US" dirty="0" err="1">
                <a:solidFill>
                  <a:schemeClr val="accent4"/>
                </a:solidFill>
              </a:rPr>
              <a:t>cte</a:t>
            </a:r>
            <a:r>
              <a:rPr lang="en-US" dirty="0">
                <a:solidFill>
                  <a:schemeClr val="accent4"/>
                </a:solidFill>
              </a:rPr>
              <a:t>;</a:t>
            </a: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`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C25BD0-8884-8B2E-CDB2-ABEC0D50A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432" y="2600590"/>
            <a:ext cx="5465711" cy="10896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B47796-70F2-5FF0-DBA9-8178CFB1A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431" y="5300247"/>
            <a:ext cx="5465712" cy="116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133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EBD68A-6F77-26C7-86F6-13A08391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A875D0D-3C9D-4DCD-B596-0CA5384D7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243840"/>
            <a:ext cx="879348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5B5FA5-19AF-46C9-BEE5-FF4F509E24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243840"/>
            <a:ext cx="879348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C162E4B-773B-41AA-BD90-3EE2C721E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995" y="3733800"/>
            <a:ext cx="6172200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5FB5DD-2BD8-4EA4-896C-C34AB7BFC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995" y="5462458"/>
            <a:ext cx="6172200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9DF6F95-C488-4321-229F-B26546D33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485" y="4208424"/>
            <a:ext cx="747522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85000"/>
              </a:lnSpc>
            </a:pPr>
            <a:r>
              <a:rPr lang="en-US" sz="4400" b="1" cap="all">
                <a:solidFill>
                  <a:srgbClr val="FFFFFF"/>
                </a:solidFill>
              </a:rPr>
              <a:t>Warehouse Performance Visuals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18FEBC3-D934-4EF0-AF44-996F1EAC4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243841"/>
            <a:ext cx="8791575" cy="3964584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8BC7A96-11C2-EB7C-3646-3A42EC1B5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961" y="2183249"/>
            <a:ext cx="4972867" cy="18709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5852D5-907B-C132-C01F-6D87AF03C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914" y="412944"/>
            <a:ext cx="3712029" cy="1616077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1F655A7-1E02-2AD2-B9FB-2595F2DA93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32485" y="412944"/>
            <a:ext cx="2895328" cy="1616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120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A51EF-F858-7896-F22A-96DEE3C4A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DFD2D-CD9E-4627-8815-B12B0C49F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64" y="402771"/>
            <a:ext cx="7406640" cy="718457"/>
          </a:xfrm>
        </p:spPr>
        <p:txBody>
          <a:bodyPr>
            <a:normAutofit/>
          </a:bodyPr>
          <a:lstStyle/>
          <a:p>
            <a:r>
              <a:rPr lang="en-US" dirty="0"/>
              <a:t>Delivery Agent Performance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CD82B-64F7-60C9-7E59-ED7AFEBEC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284514"/>
            <a:ext cx="7404653" cy="481148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Ranking delivery agents (per route) by on-time delivery percentage</a:t>
            </a:r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with </a:t>
            </a:r>
            <a:r>
              <a:rPr lang="en-US" dirty="0" err="1">
                <a:solidFill>
                  <a:schemeClr val="accent4"/>
                </a:solidFill>
              </a:rPr>
              <a:t>cte</a:t>
            </a:r>
            <a:r>
              <a:rPr lang="en-US" dirty="0">
                <a:solidFill>
                  <a:schemeClr val="accent4"/>
                </a:solidFill>
              </a:rPr>
              <a:t> as (select </a:t>
            </a:r>
            <a:r>
              <a:rPr lang="en-US" dirty="0" err="1">
                <a:solidFill>
                  <a:schemeClr val="accent4"/>
                </a:solidFill>
              </a:rPr>
              <a:t>Agent_ID</a:t>
            </a:r>
            <a:r>
              <a:rPr lang="en-US" dirty="0">
                <a:solidFill>
                  <a:schemeClr val="accent4"/>
                </a:solidFill>
              </a:rPr>
              <a:t>, </a:t>
            </a:r>
            <a:r>
              <a:rPr lang="en-US" dirty="0" err="1">
                <a:solidFill>
                  <a:schemeClr val="accent4"/>
                </a:solidFill>
              </a:rPr>
              <a:t>Route_ID,round</a:t>
            </a:r>
            <a:r>
              <a:rPr lang="en-US" dirty="0">
                <a:solidFill>
                  <a:schemeClr val="accent4"/>
                </a:solidFill>
              </a:rPr>
              <a:t>((count(case when </a:t>
            </a:r>
            <a:r>
              <a:rPr lang="en-US" dirty="0" err="1">
                <a:solidFill>
                  <a:schemeClr val="accent4"/>
                </a:solidFill>
              </a:rPr>
              <a:t>Delay_Hours</a:t>
            </a:r>
            <a:r>
              <a:rPr lang="en-US" dirty="0">
                <a:solidFill>
                  <a:schemeClr val="accent4"/>
                </a:solidFill>
              </a:rPr>
              <a:t>=0 then 1 end)/count(*))*100,2) as </a:t>
            </a:r>
            <a:r>
              <a:rPr lang="en-US" dirty="0" err="1">
                <a:solidFill>
                  <a:schemeClr val="accent4"/>
                </a:solidFill>
              </a:rPr>
              <a:t>On_Time_Percentage</a:t>
            </a:r>
            <a:r>
              <a:rPr lang="en-US" dirty="0">
                <a:solidFill>
                  <a:schemeClr val="accent4"/>
                </a:solidFill>
              </a:rPr>
              <a:t> from </a:t>
            </a:r>
            <a:r>
              <a:rPr lang="en-US" dirty="0" err="1">
                <a:solidFill>
                  <a:schemeClr val="accent4"/>
                </a:solidFill>
              </a:rPr>
              <a:t>fedex_shipments</a:t>
            </a:r>
            <a:r>
              <a:rPr lang="en-US" dirty="0">
                <a:solidFill>
                  <a:schemeClr val="accent4"/>
                </a:solidFill>
              </a:rPr>
              <a:t> group by </a:t>
            </a:r>
            <a:r>
              <a:rPr lang="en-US" dirty="0" err="1">
                <a:solidFill>
                  <a:schemeClr val="accent4"/>
                </a:solidFill>
              </a:rPr>
              <a:t>Route_ID</a:t>
            </a:r>
            <a:r>
              <a:rPr lang="en-US" dirty="0">
                <a:solidFill>
                  <a:schemeClr val="accent4"/>
                </a:solidFill>
              </a:rPr>
              <a:t>, </a:t>
            </a:r>
            <a:r>
              <a:rPr lang="en-US" dirty="0" err="1">
                <a:solidFill>
                  <a:schemeClr val="accent4"/>
                </a:solidFill>
              </a:rPr>
              <a:t>Agent_ID</a:t>
            </a:r>
            <a:r>
              <a:rPr lang="en-US" dirty="0">
                <a:solidFill>
                  <a:schemeClr val="accent4"/>
                </a:solidFill>
              </a:rPr>
              <a:t> )</a:t>
            </a:r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select *, </a:t>
            </a:r>
            <a:r>
              <a:rPr lang="en-US" dirty="0" err="1">
                <a:solidFill>
                  <a:schemeClr val="accent4"/>
                </a:solidFill>
              </a:rPr>
              <a:t>dense_rank</a:t>
            </a:r>
            <a:r>
              <a:rPr lang="en-US" dirty="0">
                <a:solidFill>
                  <a:schemeClr val="accent4"/>
                </a:solidFill>
              </a:rPr>
              <a:t>() over(partition by </a:t>
            </a:r>
            <a:r>
              <a:rPr lang="en-US" dirty="0" err="1">
                <a:solidFill>
                  <a:schemeClr val="accent4"/>
                </a:solidFill>
              </a:rPr>
              <a:t>Route_ID</a:t>
            </a:r>
            <a:r>
              <a:rPr lang="en-US" dirty="0">
                <a:solidFill>
                  <a:schemeClr val="accent4"/>
                </a:solidFill>
              </a:rPr>
              <a:t> order by </a:t>
            </a:r>
            <a:r>
              <a:rPr lang="en-US" dirty="0" err="1">
                <a:solidFill>
                  <a:schemeClr val="accent4"/>
                </a:solidFill>
              </a:rPr>
              <a:t>On_Time_Percentage</a:t>
            </a:r>
            <a:r>
              <a:rPr lang="en-US" dirty="0">
                <a:solidFill>
                  <a:schemeClr val="accent4"/>
                </a:solidFill>
              </a:rPr>
              <a:t> desc) as Ranking from </a:t>
            </a:r>
            <a:r>
              <a:rPr lang="en-US" dirty="0" err="1">
                <a:solidFill>
                  <a:schemeClr val="accent4"/>
                </a:solidFill>
              </a:rPr>
              <a:t>cte</a:t>
            </a:r>
            <a:r>
              <a:rPr lang="en-US" dirty="0">
                <a:solidFill>
                  <a:schemeClr val="accent4"/>
                </a:solidFill>
              </a:rPr>
              <a:t>;</a:t>
            </a: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r>
              <a:rPr lang="en-US" dirty="0"/>
              <a:t>Agents who's on-time % is below 85%</a:t>
            </a:r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select </a:t>
            </a:r>
            <a:r>
              <a:rPr lang="en-US" dirty="0" err="1">
                <a:solidFill>
                  <a:schemeClr val="accent4"/>
                </a:solidFill>
              </a:rPr>
              <a:t>Agent_ID,round</a:t>
            </a:r>
            <a:r>
              <a:rPr lang="en-US" dirty="0">
                <a:solidFill>
                  <a:schemeClr val="accent4"/>
                </a:solidFill>
              </a:rPr>
              <a:t>((count(case when </a:t>
            </a:r>
            <a:r>
              <a:rPr lang="en-US" dirty="0" err="1">
                <a:solidFill>
                  <a:schemeClr val="accent4"/>
                </a:solidFill>
              </a:rPr>
              <a:t>Delay_Hours</a:t>
            </a:r>
            <a:r>
              <a:rPr lang="en-US" dirty="0">
                <a:solidFill>
                  <a:schemeClr val="accent4"/>
                </a:solidFill>
              </a:rPr>
              <a:t>=0 then 1 end)/count(*))*100,2) as </a:t>
            </a:r>
            <a:r>
              <a:rPr lang="en-US" dirty="0" err="1">
                <a:solidFill>
                  <a:schemeClr val="accent4"/>
                </a:solidFill>
              </a:rPr>
              <a:t>On_Time_Percentage</a:t>
            </a:r>
            <a:r>
              <a:rPr lang="en-US" dirty="0">
                <a:solidFill>
                  <a:schemeClr val="accent4"/>
                </a:solidFill>
              </a:rPr>
              <a:t> from </a:t>
            </a:r>
            <a:r>
              <a:rPr lang="en-US" dirty="0" err="1">
                <a:solidFill>
                  <a:schemeClr val="accent4"/>
                </a:solidFill>
              </a:rPr>
              <a:t>fedex_shipments</a:t>
            </a:r>
            <a:r>
              <a:rPr lang="en-US" dirty="0">
                <a:solidFill>
                  <a:schemeClr val="accent4"/>
                </a:solidFill>
              </a:rPr>
              <a:t> group by </a:t>
            </a:r>
            <a:r>
              <a:rPr lang="en-US" dirty="0" err="1">
                <a:solidFill>
                  <a:schemeClr val="accent4"/>
                </a:solidFill>
              </a:rPr>
              <a:t>Agent_ID</a:t>
            </a:r>
            <a:r>
              <a:rPr lang="en-US" dirty="0">
                <a:solidFill>
                  <a:schemeClr val="accent4"/>
                </a:solidFill>
              </a:rPr>
              <a:t> having </a:t>
            </a:r>
            <a:r>
              <a:rPr lang="en-US" dirty="0" err="1">
                <a:solidFill>
                  <a:schemeClr val="accent4"/>
                </a:solidFill>
              </a:rPr>
              <a:t>On_Time_Percentage</a:t>
            </a:r>
            <a:r>
              <a:rPr lang="en-US" dirty="0">
                <a:solidFill>
                  <a:schemeClr val="accent4"/>
                </a:solidFill>
              </a:rPr>
              <a:t> &lt; 85.00;</a:t>
            </a: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`</a:t>
            </a: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BC30FD-9118-DDC3-6E75-F73E98361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255" y="2819400"/>
            <a:ext cx="5715001" cy="10450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8010F2-47C5-C05E-BA99-C094D3154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255" y="5050971"/>
            <a:ext cx="5715001" cy="131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459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6F736-AF27-128C-2DB1-8C318443A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F6FCC-0EBA-BF65-125B-D4718A8B1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64" y="402771"/>
            <a:ext cx="7406640" cy="718457"/>
          </a:xfrm>
        </p:spPr>
        <p:txBody>
          <a:bodyPr>
            <a:normAutofit/>
          </a:bodyPr>
          <a:lstStyle/>
          <a:p>
            <a:r>
              <a:rPr lang="en-US" dirty="0"/>
              <a:t>Delivery Agent Performance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19E0D-F9EC-AA14-BB80-9E1BCADBB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284514"/>
            <a:ext cx="7404653" cy="481148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average rating and experience (in years) of the top 5 vs bottom 5 agents</a:t>
            </a:r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(select </a:t>
            </a:r>
            <a:r>
              <a:rPr lang="en-US" dirty="0" err="1">
                <a:solidFill>
                  <a:schemeClr val="accent4"/>
                </a:solidFill>
              </a:rPr>
              <a:t>a.Agent_ID,round</a:t>
            </a:r>
            <a:r>
              <a:rPr lang="en-US" dirty="0">
                <a:solidFill>
                  <a:schemeClr val="accent4"/>
                </a:solidFill>
              </a:rPr>
              <a:t>((count(case when </a:t>
            </a:r>
            <a:r>
              <a:rPr lang="en-US" dirty="0" err="1">
                <a:solidFill>
                  <a:schemeClr val="accent4"/>
                </a:solidFill>
              </a:rPr>
              <a:t>s.Delay_Hours</a:t>
            </a:r>
            <a:r>
              <a:rPr lang="en-US" dirty="0">
                <a:solidFill>
                  <a:schemeClr val="accent4"/>
                </a:solidFill>
              </a:rPr>
              <a:t>=0 then 1 end)/count(*))*100,2) as </a:t>
            </a:r>
            <a:r>
              <a:rPr lang="en-US" dirty="0" err="1">
                <a:solidFill>
                  <a:schemeClr val="accent4"/>
                </a:solidFill>
              </a:rPr>
              <a:t>On_Time_Percentage,a.Experience_Years</a:t>
            </a:r>
            <a:r>
              <a:rPr lang="en-US" dirty="0">
                <a:solidFill>
                  <a:schemeClr val="accent4"/>
                </a:solidFill>
              </a:rPr>
              <a:t>, </a:t>
            </a:r>
            <a:r>
              <a:rPr lang="en-US" dirty="0" err="1">
                <a:solidFill>
                  <a:schemeClr val="accent4"/>
                </a:solidFill>
              </a:rPr>
              <a:t>a.Avg_Ratingfrom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 err="1">
                <a:solidFill>
                  <a:schemeClr val="accent4"/>
                </a:solidFill>
              </a:rPr>
              <a:t>fedex_delivery_agents</a:t>
            </a:r>
            <a:r>
              <a:rPr lang="en-US" dirty="0">
                <a:solidFill>
                  <a:schemeClr val="accent4"/>
                </a:solidFill>
              </a:rPr>
              <a:t> a left join </a:t>
            </a:r>
            <a:r>
              <a:rPr lang="en-US" dirty="0" err="1">
                <a:solidFill>
                  <a:schemeClr val="accent4"/>
                </a:solidFill>
              </a:rPr>
              <a:t>fedex_shipments</a:t>
            </a:r>
            <a:r>
              <a:rPr lang="en-US" dirty="0">
                <a:solidFill>
                  <a:schemeClr val="accent4"/>
                </a:solidFill>
              </a:rPr>
              <a:t> s on </a:t>
            </a:r>
            <a:r>
              <a:rPr lang="en-US" dirty="0" err="1">
                <a:solidFill>
                  <a:schemeClr val="accent4"/>
                </a:solidFill>
              </a:rPr>
              <a:t>a.Agent_ID</a:t>
            </a:r>
            <a:r>
              <a:rPr lang="en-US" dirty="0">
                <a:solidFill>
                  <a:schemeClr val="accent4"/>
                </a:solidFill>
              </a:rPr>
              <a:t> = </a:t>
            </a:r>
            <a:r>
              <a:rPr lang="en-US" dirty="0" err="1">
                <a:solidFill>
                  <a:schemeClr val="accent4"/>
                </a:solidFill>
              </a:rPr>
              <a:t>s.Agent_IDgroup</a:t>
            </a:r>
            <a:r>
              <a:rPr lang="en-US" dirty="0">
                <a:solidFill>
                  <a:schemeClr val="accent4"/>
                </a:solidFill>
              </a:rPr>
              <a:t> by </a:t>
            </a:r>
            <a:r>
              <a:rPr lang="en-US" dirty="0" err="1">
                <a:solidFill>
                  <a:schemeClr val="accent4"/>
                </a:solidFill>
              </a:rPr>
              <a:t>a.Agent_ID</a:t>
            </a:r>
            <a:r>
              <a:rPr lang="en-US" dirty="0">
                <a:solidFill>
                  <a:schemeClr val="accent4"/>
                </a:solidFill>
              </a:rPr>
              <a:t>, </a:t>
            </a:r>
            <a:r>
              <a:rPr lang="en-US" dirty="0" err="1">
                <a:solidFill>
                  <a:schemeClr val="accent4"/>
                </a:solidFill>
              </a:rPr>
              <a:t>a.Experience_Years</a:t>
            </a:r>
            <a:r>
              <a:rPr lang="en-US" dirty="0">
                <a:solidFill>
                  <a:schemeClr val="accent4"/>
                </a:solidFill>
              </a:rPr>
              <a:t>, </a:t>
            </a:r>
            <a:r>
              <a:rPr lang="en-US" dirty="0" err="1">
                <a:solidFill>
                  <a:schemeClr val="accent4"/>
                </a:solidFill>
              </a:rPr>
              <a:t>a.Avg_Rating</a:t>
            </a:r>
            <a:r>
              <a:rPr lang="en-US" dirty="0">
                <a:solidFill>
                  <a:schemeClr val="accent4"/>
                </a:solidFill>
              </a:rPr>
              <a:t> order by </a:t>
            </a:r>
            <a:r>
              <a:rPr lang="en-US" dirty="0" err="1">
                <a:solidFill>
                  <a:schemeClr val="accent4"/>
                </a:solidFill>
              </a:rPr>
              <a:t>On_Time_Percentage</a:t>
            </a:r>
            <a:r>
              <a:rPr lang="en-US" dirty="0">
                <a:solidFill>
                  <a:schemeClr val="accent4"/>
                </a:solidFill>
              </a:rPr>
              <a:t> desc limit 5)</a:t>
            </a:r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Union</a:t>
            </a:r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 (select </a:t>
            </a:r>
            <a:r>
              <a:rPr lang="en-US" dirty="0" err="1">
                <a:solidFill>
                  <a:schemeClr val="accent4"/>
                </a:solidFill>
              </a:rPr>
              <a:t>a.Agent_ID,round</a:t>
            </a:r>
            <a:r>
              <a:rPr lang="en-US" dirty="0">
                <a:solidFill>
                  <a:schemeClr val="accent4"/>
                </a:solidFill>
              </a:rPr>
              <a:t>((count(case when </a:t>
            </a:r>
            <a:r>
              <a:rPr lang="en-US" dirty="0" err="1">
                <a:solidFill>
                  <a:schemeClr val="accent4"/>
                </a:solidFill>
              </a:rPr>
              <a:t>s.Delay_Hours</a:t>
            </a:r>
            <a:r>
              <a:rPr lang="en-US" dirty="0">
                <a:solidFill>
                  <a:schemeClr val="accent4"/>
                </a:solidFill>
              </a:rPr>
              <a:t>=0 then 1 end)/count(*))*100,2) as </a:t>
            </a:r>
            <a:r>
              <a:rPr lang="en-US" dirty="0" err="1">
                <a:solidFill>
                  <a:schemeClr val="accent4"/>
                </a:solidFill>
              </a:rPr>
              <a:t>On_Time_Percentage,a.Experience_Years</a:t>
            </a:r>
            <a:r>
              <a:rPr lang="en-US" dirty="0">
                <a:solidFill>
                  <a:schemeClr val="accent4"/>
                </a:solidFill>
              </a:rPr>
              <a:t>, </a:t>
            </a:r>
            <a:r>
              <a:rPr lang="en-US" dirty="0" err="1">
                <a:solidFill>
                  <a:schemeClr val="accent4"/>
                </a:solidFill>
              </a:rPr>
              <a:t>a.Avg_Ratingfrom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 err="1">
                <a:solidFill>
                  <a:schemeClr val="accent4"/>
                </a:solidFill>
              </a:rPr>
              <a:t>fedex_delivery_agents</a:t>
            </a:r>
            <a:r>
              <a:rPr lang="en-US" dirty="0">
                <a:solidFill>
                  <a:schemeClr val="accent4"/>
                </a:solidFill>
              </a:rPr>
              <a:t> a left join </a:t>
            </a:r>
            <a:r>
              <a:rPr lang="en-US" dirty="0" err="1">
                <a:solidFill>
                  <a:schemeClr val="accent4"/>
                </a:solidFill>
              </a:rPr>
              <a:t>fedex_shipments</a:t>
            </a:r>
            <a:r>
              <a:rPr lang="en-US" dirty="0">
                <a:solidFill>
                  <a:schemeClr val="accent4"/>
                </a:solidFill>
              </a:rPr>
              <a:t> s on </a:t>
            </a:r>
            <a:r>
              <a:rPr lang="en-US" dirty="0" err="1">
                <a:solidFill>
                  <a:schemeClr val="accent4"/>
                </a:solidFill>
              </a:rPr>
              <a:t>a.Agent_ID</a:t>
            </a:r>
            <a:r>
              <a:rPr lang="en-US" dirty="0">
                <a:solidFill>
                  <a:schemeClr val="accent4"/>
                </a:solidFill>
              </a:rPr>
              <a:t> = </a:t>
            </a:r>
            <a:r>
              <a:rPr lang="en-US" dirty="0" err="1">
                <a:solidFill>
                  <a:schemeClr val="accent4"/>
                </a:solidFill>
              </a:rPr>
              <a:t>s.Agent_IDgroup</a:t>
            </a:r>
            <a:r>
              <a:rPr lang="en-US" dirty="0">
                <a:solidFill>
                  <a:schemeClr val="accent4"/>
                </a:solidFill>
              </a:rPr>
              <a:t> by </a:t>
            </a:r>
            <a:r>
              <a:rPr lang="en-US" dirty="0" err="1">
                <a:solidFill>
                  <a:schemeClr val="accent4"/>
                </a:solidFill>
              </a:rPr>
              <a:t>a.Agent_ID</a:t>
            </a:r>
            <a:r>
              <a:rPr lang="en-US" dirty="0">
                <a:solidFill>
                  <a:schemeClr val="accent4"/>
                </a:solidFill>
              </a:rPr>
              <a:t>, </a:t>
            </a:r>
            <a:r>
              <a:rPr lang="en-US" dirty="0" err="1">
                <a:solidFill>
                  <a:schemeClr val="accent4"/>
                </a:solidFill>
              </a:rPr>
              <a:t>a.Experience_Years</a:t>
            </a:r>
            <a:r>
              <a:rPr lang="en-US" dirty="0">
                <a:solidFill>
                  <a:schemeClr val="accent4"/>
                </a:solidFill>
              </a:rPr>
              <a:t>, </a:t>
            </a:r>
            <a:r>
              <a:rPr lang="en-US" dirty="0" err="1">
                <a:solidFill>
                  <a:schemeClr val="accent4"/>
                </a:solidFill>
              </a:rPr>
              <a:t>a.Avg_Rating</a:t>
            </a:r>
            <a:r>
              <a:rPr lang="en-US" dirty="0">
                <a:solidFill>
                  <a:schemeClr val="accent4"/>
                </a:solidFill>
              </a:rPr>
              <a:t> order by </a:t>
            </a:r>
            <a:r>
              <a:rPr lang="en-US" dirty="0" err="1">
                <a:solidFill>
                  <a:schemeClr val="accent4"/>
                </a:solidFill>
              </a:rPr>
              <a:t>On_Time_Percentage</a:t>
            </a:r>
            <a:r>
              <a:rPr lang="en-US" dirty="0">
                <a:solidFill>
                  <a:schemeClr val="accent4"/>
                </a:solidFill>
              </a:rPr>
              <a:t>, </a:t>
            </a:r>
            <a:r>
              <a:rPr lang="en-US" dirty="0" err="1">
                <a:solidFill>
                  <a:schemeClr val="accent4"/>
                </a:solidFill>
              </a:rPr>
              <a:t>a.Avg_Rating</a:t>
            </a:r>
            <a:r>
              <a:rPr lang="en-US" dirty="0">
                <a:solidFill>
                  <a:schemeClr val="accent4"/>
                </a:solidFill>
              </a:rPr>
              <a:t>, </a:t>
            </a:r>
            <a:r>
              <a:rPr lang="en-US" dirty="0" err="1">
                <a:solidFill>
                  <a:schemeClr val="accent4"/>
                </a:solidFill>
              </a:rPr>
              <a:t>a.Experience_Years</a:t>
            </a:r>
            <a:r>
              <a:rPr lang="en-US" dirty="0">
                <a:solidFill>
                  <a:schemeClr val="accent4"/>
                </a:solidFill>
              </a:rPr>
              <a:t> limit 5);</a:t>
            </a: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`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B9B0FA-8B79-D008-61F4-7F39BF8BB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057" y="4778830"/>
            <a:ext cx="6357257" cy="157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3684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13155-2EF9-5C32-24A2-87044260A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86008-D86F-7653-F5EE-DD63C7FE3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64" y="402771"/>
            <a:ext cx="7406640" cy="718457"/>
          </a:xfrm>
        </p:spPr>
        <p:txBody>
          <a:bodyPr>
            <a:normAutofit/>
          </a:bodyPr>
          <a:lstStyle/>
          <a:p>
            <a:r>
              <a:rPr lang="en-US" dirty="0"/>
              <a:t>Delivery Agent Performance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42446-EA23-F65A-AB92-AA5AD340A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284514"/>
            <a:ext cx="7404653" cy="4811486"/>
          </a:xfrm>
        </p:spPr>
        <p:txBody>
          <a:bodyPr>
            <a:normAutofit/>
          </a:bodyPr>
          <a:lstStyle/>
          <a:p>
            <a:pPr marL="34290" indent="0">
              <a:buNone/>
            </a:pPr>
            <a:r>
              <a:rPr lang="en-US" dirty="0"/>
              <a:t>Recommendations for low performing agents :</a:t>
            </a:r>
          </a:p>
          <a:p>
            <a:r>
              <a:rPr lang="en-US" dirty="0">
                <a:solidFill>
                  <a:schemeClr val="accent2"/>
                </a:solidFill>
              </a:rPr>
              <a:t>Targeted Training Programs on: Time management, Customer handling and communication</a:t>
            </a:r>
          </a:p>
          <a:p>
            <a:r>
              <a:rPr lang="en-US" dirty="0">
                <a:solidFill>
                  <a:schemeClr val="accent2"/>
                </a:solidFill>
              </a:rPr>
              <a:t>Route Familiarization: Reassign low-performing agents temporarily to less complex delivery zones.</a:t>
            </a:r>
          </a:p>
          <a:p>
            <a:r>
              <a:rPr lang="en-US" dirty="0">
                <a:solidFill>
                  <a:schemeClr val="accent2"/>
                </a:solidFill>
              </a:rPr>
              <a:t>Give weekly targets for On-time delivery %, Customer feedback ratings </a:t>
            </a:r>
          </a:p>
          <a:p>
            <a:r>
              <a:rPr lang="en-US" dirty="0">
                <a:solidFill>
                  <a:schemeClr val="accent2"/>
                </a:solidFill>
              </a:rPr>
              <a:t>Workload Balancing Strategies : Reduce excessive shipment allocation for these agents and pair them with experienced staff.</a:t>
            </a:r>
          </a:p>
        </p:txBody>
      </p:sp>
    </p:spTree>
    <p:extLst>
      <p:ext uri="{BB962C8B-B14F-4D97-AF65-F5344CB8AC3E}">
        <p14:creationId xmlns:p14="http://schemas.microsoft.com/office/powerpoint/2010/main" val="10666034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B350A-B5C3-AA0E-1114-324AC32D9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B19E-4022-27DD-C657-6BF27EEB1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64" y="402771"/>
            <a:ext cx="7406640" cy="718457"/>
          </a:xfrm>
        </p:spPr>
        <p:txBody>
          <a:bodyPr>
            <a:normAutofit/>
          </a:bodyPr>
          <a:lstStyle/>
          <a:p>
            <a:r>
              <a:rPr lang="en-US" dirty="0"/>
              <a:t>Shipment Tracking Analytics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C3573-C5B5-6214-2537-74F2DAFF1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284514"/>
            <a:ext cx="7404653" cy="481148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For each shipment: The latest status along with the latest </a:t>
            </a:r>
            <a:r>
              <a:rPr lang="en-US" dirty="0" err="1"/>
              <a:t>Delivery_Date</a:t>
            </a:r>
            <a:r>
              <a:rPr lang="en-US" dirty="0"/>
              <a:t> </a:t>
            </a:r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select </a:t>
            </a:r>
            <a:r>
              <a:rPr lang="en-US" dirty="0" err="1">
                <a:solidFill>
                  <a:schemeClr val="accent4"/>
                </a:solidFill>
              </a:rPr>
              <a:t>Shipment_ID</a:t>
            </a:r>
            <a:r>
              <a:rPr lang="en-US" dirty="0">
                <a:solidFill>
                  <a:schemeClr val="accent4"/>
                </a:solidFill>
              </a:rPr>
              <a:t>, </a:t>
            </a:r>
            <a:r>
              <a:rPr lang="en-US" dirty="0" err="1">
                <a:solidFill>
                  <a:schemeClr val="accent4"/>
                </a:solidFill>
              </a:rPr>
              <a:t>Delivery_Date</a:t>
            </a:r>
            <a:r>
              <a:rPr lang="en-US" dirty="0">
                <a:solidFill>
                  <a:schemeClr val="accent4"/>
                </a:solidFill>
              </a:rPr>
              <a:t> as </a:t>
            </a:r>
            <a:r>
              <a:rPr lang="en-US" dirty="0" err="1">
                <a:solidFill>
                  <a:schemeClr val="accent4"/>
                </a:solidFill>
              </a:rPr>
              <a:t>Latest_Delivery_Date</a:t>
            </a:r>
            <a:r>
              <a:rPr lang="en-US" dirty="0">
                <a:solidFill>
                  <a:schemeClr val="accent4"/>
                </a:solidFill>
              </a:rPr>
              <a:t>, </a:t>
            </a:r>
            <a:r>
              <a:rPr lang="en-US" dirty="0" err="1">
                <a:solidFill>
                  <a:schemeClr val="accent4"/>
                </a:solidFill>
              </a:rPr>
              <a:t>Delivery_Statusfrom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 err="1">
                <a:solidFill>
                  <a:schemeClr val="accent4"/>
                </a:solidFill>
              </a:rPr>
              <a:t>fedex_shipments</a:t>
            </a:r>
            <a:r>
              <a:rPr lang="en-US" dirty="0">
                <a:solidFill>
                  <a:schemeClr val="accent4"/>
                </a:solidFill>
              </a:rPr>
              <a:t> where (</a:t>
            </a:r>
            <a:r>
              <a:rPr lang="en-US" dirty="0" err="1">
                <a:solidFill>
                  <a:schemeClr val="accent4"/>
                </a:solidFill>
              </a:rPr>
              <a:t>Shipment_ID</a:t>
            </a:r>
            <a:r>
              <a:rPr lang="en-US" dirty="0">
                <a:solidFill>
                  <a:schemeClr val="accent4"/>
                </a:solidFill>
              </a:rPr>
              <a:t>, </a:t>
            </a:r>
            <a:r>
              <a:rPr lang="en-US" dirty="0" err="1">
                <a:solidFill>
                  <a:schemeClr val="accent4"/>
                </a:solidFill>
              </a:rPr>
              <a:t>Delivery_date</a:t>
            </a:r>
            <a:r>
              <a:rPr lang="en-US" dirty="0">
                <a:solidFill>
                  <a:schemeClr val="accent4"/>
                </a:solidFill>
              </a:rPr>
              <a:t>) in (select </a:t>
            </a:r>
            <a:r>
              <a:rPr lang="en-US" dirty="0" err="1">
                <a:solidFill>
                  <a:schemeClr val="accent4"/>
                </a:solidFill>
              </a:rPr>
              <a:t>Shipment_ID</a:t>
            </a:r>
            <a:r>
              <a:rPr lang="en-US" dirty="0">
                <a:solidFill>
                  <a:schemeClr val="accent4"/>
                </a:solidFill>
              </a:rPr>
              <a:t>, Max(</a:t>
            </a:r>
            <a:r>
              <a:rPr lang="en-US" dirty="0" err="1">
                <a:solidFill>
                  <a:schemeClr val="accent4"/>
                </a:solidFill>
              </a:rPr>
              <a:t>Delivery_Date</a:t>
            </a:r>
            <a:r>
              <a:rPr lang="en-US" dirty="0">
                <a:solidFill>
                  <a:schemeClr val="accent4"/>
                </a:solidFill>
              </a:rPr>
              <a:t>) as </a:t>
            </a:r>
            <a:r>
              <a:rPr lang="en-US" dirty="0" err="1">
                <a:solidFill>
                  <a:schemeClr val="accent4"/>
                </a:solidFill>
              </a:rPr>
              <a:t>Latest_Delivery_Date</a:t>
            </a:r>
            <a:r>
              <a:rPr lang="en-US" dirty="0">
                <a:solidFill>
                  <a:schemeClr val="accent4"/>
                </a:solidFill>
              </a:rPr>
              <a:t> from </a:t>
            </a:r>
            <a:r>
              <a:rPr lang="en-US" dirty="0" err="1">
                <a:solidFill>
                  <a:schemeClr val="accent4"/>
                </a:solidFill>
              </a:rPr>
              <a:t>fedex_shipments</a:t>
            </a:r>
            <a:r>
              <a:rPr lang="en-US" dirty="0">
                <a:solidFill>
                  <a:schemeClr val="accent4"/>
                </a:solidFill>
              </a:rPr>
              <a:t> group by </a:t>
            </a:r>
            <a:r>
              <a:rPr lang="en-US" dirty="0" err="1">
                <a:solidFill>
                  <a:schemeClr val="accent4"/>
                </a:solidFill>
              </a:rPr>
              <a:t>Shipment_ID</a:t>
            </a:r>
            <a:r>
              <a:rPr lang="en-US" dirty="0">
                <a:solidFill>
                  <a:schemeClr val="accent4"/>
                </a:solidFill>
              </a:rPr>
              <a:t>);</a:t>
            </a: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r>
              <a:rPr lang="en-US" dirty="0"/>
              <a:t>Routes where the majority of shipments are still “In Transit” or “Returned”</a:t>
            </a:r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select </a:t>
            </a:r>
            <a:r>
              <a:rPr lang="en-US" dirty="0" err="1">
                <a:solidFill>
                  <a:schemeClr val="accent4"/>
                </a:solidFill>
              </a:rPr>
              <a:t>Route_ID</a:t>
            </a:r>
            <a:r>
              <a:rPr lang="en-US" dirty="0">
                <a:solidFill>
                  <a:schemeClr val="accent4"/>
                </a:solidFill>
              </a:rPr>
              <a:t>, count(case when </a:t>
            </a:r>
            <a:r>
              <a:rPr lang="en-US" dirty="0" err="1">
                <a:solidFill>
                  <a:schemeClr val="accent4"/>
                </a:solidFill>
              </a:rPr>
              <a:t>delivery_status</a:t>
            </a:r>
            <a:r>
              <a:rPr lang="en-US" dirty="0">
                <a:solidFill>
                  <a:schemeClr val="accent4"/>
                </a:solidFill>
              </a:rPr>
              <a:t> = "In Transit" or </a:t>
            </a:r>
            <a:r>
              <a:rPr lang="en-US" dirty="0" err="1">
                <a:solidFill>
                  <a:schemeClr val="accent4"/>
                </a:solidFill>
              </a:rPr>
              <a:t>delivery_status</a:t>
            </a:r>
            <a:r>
              <a:rPr lang="en-US" dirty="0">
                <a:solidFill>
                  <a:schemeClr val="accent4"/>
                </a:solidFill>
              </a:rPr>
              <a:t> = "Returned" then 1 end) as </a:t>
            </a:r>
            <a:r>
              <a:rPr lang="en-US" dirty="0" err="1">
                <a:solidFill>
                  <a:schemeClr val="accent4"/>
                </a:solidFill>
              </a:rPr>
              <a:t>Not_Delivered_Shipments,count</a:t>
            </a:r>
            <a:r>
              <a:rPr lang="en-US" dirty="0">
                <a:solidFill>
                  <a:schemeClr val="accent4"/>
                </a:solidFill>
              </a:rPr>
              <a:t>(*) as </a:t>
            </a:r>
            <a:r>
              <a:rPr lang="en-US" dirty="0" err="1">
                <a:solidFill>
                  <a:schemeClr val="accent4"/>
                </a:solidFill>
              </a:rPr>
              <a:t>Total_Shipments</a:t>
            </a:r>
            <a:r>
              <a:rPr lang="en-US" dirty="0">
                <a:solidFill>
                  <a:schemeClr val="accent4"/>
                </a:solidFill>
              </a:rPr>
              <a:t>, count(case when </a:t>
            </a:r>
            <a:r>
              <a:rPr lang="en-US" dirty="0" err="1">
                <a:solidFill>
                  <a:schemeClr val="accent4"/>
                </a:solidFill>
              </a:rPr>
              <a:t>delivery_status</a:t>
            </a:r>
            <a:r>
              <a:rPr lang="en-US" dirty="0">
                <a:solidFill>
                  <a:schemeClr val="accent4"/>
                </a:solidFill>
              </a:rPr>
              <a:t> = "In Transit" or </a:t>
            </a:r>
            <a:r>
              <a:rPr lang="en-US" dirty="0" err="1">
                <a:solidFill>
                  <a:schemeClr val="accent4"/>
                </a:solidFill>
              </a:rPr>
              <a:t>delivery_status</a:t>
            </a:r>
            <a:r>
              <a:rPr lang="en-US" dirty="0">
                <a:solidFill>
                  <a:schemeClr val="accent4"/>
                </a:solidFill>
              </a:rPr>
              <a:t> = "Returned" then 1 end)*100/count(*) as </a:t>
            </a:r>
            <a:r>
              <a:rPr lang="en-US" dirty="0" err="1">
                <a:solidFill>
                  <a:schemeClr val="accent4"/>
                </a:solidFill>
              </a:rPr>
              <a:t>Percentage_Not_Deliveredfrom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 err="1">
                <a:solidFill>
                  <a:schemeClr val="accent4"/>
                </a:solidFill>
              </a:rPr>
              <a:t>fedex_shipments</a:t>
            </a:r>
            <a:r>
              <a:rPr lang="en-US" dirty="0">
                <a:solidFill>
                  <a:schemeClr val="accent4"/>
                </a:solidFill>
              </a:rPr>
              <a:t> group by </a:t>
            </a:r>
            <a:r>
              <a:rPr lang="en-US" dirty="0" err="1">
                <a:solidFill>
                  <a:schemeClr val="accent4"/>
                </a:solidFill>
              </a:rPr>
              <a:t>Route_ID</a:t>
            </a:r>
            <a:r>
              <a:rPr lang="en-US" dirty="0">
                <a:solidFill>
                  <a:schemeClr val="accent4"/>
                </a:solidFill>
              </a:rPr>
              <a:t> order by </a:t>
            </a:r>
            <a:r>
              <a:rPr lang="en-US" dirty="0" err="1">
                <a:solidFill>
                  <a:schemeClr val="accent4"/>
                </a:solidFill>
              </a:rPr>
              <a:t>Percentage_Not_Delivered</a:t>
            </a:r>
            <a:r>
              <a:rPr lang="en-US" dirty="0">
                <a:solidFill>
                  <a:schemeClr val="accent4"/>
                </a:solidFill>
              </a:rPr>
              <a:t> desc;</a:t>
            </a: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`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EFD557-8B7A-C4F9-6677-6448E4F4D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1" y="2427514"/>
            <a:ext cx="5802084" cy="10014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DCAB52-1BB3-498F-2EC3-ED454444A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1" y="5016807"/>
            <a:ext cx="5802084" cy="124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3019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BA8DA-8F8F-C872-F2EA-0A7C7A514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45CBD-B4D6-A163-9FEF-F155F928B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64" y="402771"/>
            <a:ext cx="7406640" cy="718457"/>
          </a:xfrm>
        </p:spPr>
        <p:txBody>
          <a:bodyPr>
            <a:normAutofit/>
          </a:bodyPr>
          <a:lstStyle/>
          <a:p>
            <a:r>
              <a:rPr lang="en-US" dirty="0"/>
              <a:t>Shipment Tracking Analytics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E621A-08A2-8E91-0D7F-7444A8F2B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284514"/>
            <a:ext cx="7404653" cy="4811486"/>
          </a:xfrm>
        </p:spPr>
        <p:txBody>
          <a:bodyPr>
            <a:normAutofit/>
          </a:bodyPr>
          <a:lstStyle/>
          <a:p>
            <a:r>
              <a:rPr lang="en-US" dirty="0"/>
              <a:t>The most frequent delay reasons</a:t>
            </a:r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select </a:t>
            </a:r>
            <a:r>
              <a:rPr lang="en-US" dirty="0" err="1">
                <a:solidFill>
                  <a:schemeClr val="accent4"/>
                </a:solidFill>
              </a:rPr>
              <a:t>Delay_Reason</a:t>
            </a:r>
            <a:r>
              <a:rPr lang="en-US" dirty="0">
                <a:solidFill>
                  <a:schemeClr val="accent4"/>
                </a:solidFill>
              </a:rPr>
              <a:t>, count(</a:t>
            </a:r>
            <a:r>
              <a:rPr lang="en-US" dirty="0" err="1">
                <a:solidFill>
                  <a:schemeClr val="accent4"/>
                </a:solidFill>
              </a:rPr>
              <a:t>Shipment_ID</a:t>
            </a:r>
            <a:r>
              <a:rPr lang="en-US" dirty="0">
                <a:solidFill>
                  <a:schemeClr val="accent4"/>
                </a:solidFill>
              </a:rPr>
              <a:t>) as Frequency from </a:t>
            </a:r>
            <a:r>
              <a:rPr lang="en-US" dirty="0" err="1">
                <a:solidFill>
                  <a:schemeClr val="accent4"/>
                </a:solidFill>
              </a:rPr>
              <a:t>fedex_shipmentsgroup</a:t>
            </a:r>
            <a:r>
              <a:rPr lang="en-US" dirty="0">
                <a:solidFill>
                  <a:schemeClr val="accent4"/>
                </a:solidFill>
              </a:rPr>
              <a:t> by </a:t>
            </a:r>
            <a:r>
              <a:rPr lang="en-US" dirty="0" err="1">
                <a:solidFill>
                  <a:schemeClr val="accent4"/>
                </a:solidFill>
              </a:rPr>
              <a:t>Delay_Reason</a:t>
            </a:r>
            <a:r>
              <a:rPr lang="en-US" dirty="0">
                <a:solidFill>
                  <a:schemeClr val="accent4"/>
                </a:solidFill>
              </a:rPr>
              <a:t> order by Frequency desc limit 3;</a:t>
            </a: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r>
              <a:rPr lang="en-US" dirty="0"/>
              <a:t>Orders with exceptionally high delay (&gt;120 hours)</a:t>
            </a:r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select </a:t>
            </a:r>
            <a:r>
              <a:rPr lang="en-US" dirty="0" err="1">
                <a:solidFill>
                  <a:schemeClr val="accent4"/>
                </a:solidFill>
              </a:rPr>
              <a:t>Order_ID</a:t>
            </a:r>
            <a:r>
              <a:rPr lang="en-US" dirty="0">
                <a:solidFill>
                  <a:schemeClr val="accent4"/>
                </a:solidFill>
              </a:rPr>
              <a:t>, </a:t>
            </a:r>
            <a:r>
              <a:rPr lang="en-US" dirty="0" err="1">
                <a:solidFill>
                  <a:schemeClr val="accent4"/>
                </a:solidFill>
              </a:rPr>
              <a:t>Delay_Hours</a:t>
            </a:r>
            <a:r>
              <a:rPr lang="en-US" dirty="0">
                <a:solidFill>
                  <a:schemeClr val="accent4"/>
                </a:solidFill>
              </a:rPr>
              <a:t>, </a:t>
            </a:r>
            <a:r>
              <a:rPr lang="en-US" dirty="0" err="1">
                <a:solidFill>
                  <a:schemeClr val="accent4"/>
                </a:solidFill>
              </a:rPr>
              <a:t>Delay_Reasonfrom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 err="1">
                <a:solidFill>
                  <a:schemeClr val="accent4"/>
                </a:solidFill>
              </a:rPr>
              <a:t>fedex_shipments</a:t>
            </a:r>
            <a:r>
              <a:rPr lang="en-US" dirty="0">
                <a:solidFill>
                  <a:schemeClr val="accent4"/>
                </a:solidFill>
              </a:rPr>
              <a:t> where </a:t>
            </a:r>
            <a:r>
              <a:rPr lang="en-US" dirty="0" err="1">
                <a:solidFill>
                  <a:schemeClr val="accent4"/>
                </a:solidFill>
              </a:rPr>
              <a:t>Delay_Hours</a:t>
            </a:r>
            <a:r>
              <a:rPr lang="en-US" dirty="0">
                <a:solidFill>
                  <a:schemeClr val="accent4"/>
                </a:solidFill>
              </a:rPr>
              <a:t> &gt; 120 order by </a:t>
            </a:r>
            <a:r>
              <a:rPr lang="en-US" dirty="0" err="1">
                <a:solidFill>
                  <a:schemeClr val="accent4"/>
                </a:solidFill>
              </a:rPr>
              <a:t>Delay_Hours</a:t>
            </a:r>
            <a:r>
              <a:rPr lang="en-US" dirty="0">
                <a:solidFill>
                  <a:schemeClr val="accent4"/>
                </a:solidFill>
              </a:rPr>
              <a:t> desc;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E690AB-6B72-235A-7BA5-F4A2329D5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197" y="2645229"/>
            <a:ext cx="5736773" cy="1143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7714A6-B088-5F77-71E0-A5F6E3B29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196" y="4996543"/>
            <a:ext cx="5736773" cy="133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0554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D06890-F4E5-C3B6-CA06-89E9AEA7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B71362F-6305-42A2-8633-285CE3813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243840"/>
            <a:ext cx="879348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1F50C1-F708-485D-B1A9-65873AB21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243840"/>
            <a:ext cx="879348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AF7F52A-561E-4CE4-A251-1565CF80F2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995" y="3733800"/>
            <a:ext cx="6172200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67E998-E312-45A7-A84D-81D9342085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995" y="5462458"/>
            <a:ext cx="6172200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DAC1EC3-2561-8E67-0C79-199CA14C2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485" y="4208424"/>
            <a:ext cx="747522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85000"/>
              </a:lnSpc>
            </a:pPr>
            <a:r>
              <a:rPr lang="en-US" sz="4400" b="1" cap="all">
                <a:solidFill>
                  <a:srgbClr val="FFFFFF"/>
                </a:solidFill>
              </a:rPr>
              <a:t>Shipment Tracking Analytics Visuals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A3BFD8-1DCA-4E53-9E5F-9292C9BE3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243841"/>
            <a:ext cx="8791575" cy="3964584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8F7491-3875-B88F-2110-7222498658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6829" y="1055914"/>
            <a:ext cx="3914521" cy="23730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8B1C64-C2A4-CACC-7872-20501A4C7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650" y="960838"/>
            <a:ext cx="3797935" cy="254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3921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1255A-0261-8B30-68D1-9AED4E656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45A7B-C082-544B-A8BF-56132549B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64" y="402771"/>
            <a:ext cx="7406640" cy="718457"/>
          </a:xfrm>
        </p:spPr>
        <p:txBody>
          <a:bodyPr>
            <a:normAutofit/>
          </a:bodyPr>
          <a:lstStyle/>
          <a:p>
            <a:r>
              <a:rPr lang="en-US" dirty="0"/>
              <a:t>Advanced KPI Reporting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C6179-BD2C-8F4A-20A2-29F80D87E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284514"/>
            <a:ext cx="7404653" cy="481148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Average Delivery Delay per </a:t>
            </a:r>
            <a:r>
              <a:rPr lang="en-US" dirty="0" err="1"/>
              <a:t>Source_Country</a:t>
            </a:r>
            <a:endParaRPr lang="en-US" dirty="0"/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select </a:t>
            </a:r>
            <a:r>
              <a:rPr lang="en-US" dirty="0" err="1">
                <a:solidFill>
                  <a:schemeClr val="accent4"/>
                </a:solidFill>
              </a:rPr>
              <a:t>Source_Country</a:t>
            </a:r>
            <a:r>
              <a:rPr lang="en-US" dirty="0">
                <a:solidFill>
                  <a:schemeClr val="accent4"/>
                </a:solidFill>
              </a:rPr>
              <a:t>, round(avg(</a:t>
            </a:r>
            <a:r>
              <a:rPr lang="en-US" dirty="0" err="1">
                <a:solidFill>
                  <a:schemeClr val="accent4"/>
                </a:solidFill>
              </a:rPr>
              <a:t>Delay_Hours</a:t>
            </a:r>
            <a:r>
              <a:rPr lang="en-US" dirty="0">
                <a:solidFill>
                  <a:schemeClr val="accent4"/>
                </a:solidFill>
              </a:rPr>
              <a:t>),2) as </a:t>
            </a:r>
            <a:r>
              <a:rPr lang="en-US" dirty="0" err="1">
                <a:solidFill>
                  <a:schemeClr val="accent4"/>
                </a:solidFill>
              </a:rPr>
              <a:t>Average_Delayfrom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 err="1">
                <a:solidFill>
                  <a:schemeClr val="accent4"/>
                </a:solidFill>
              </a:rPr>
              <a:t>fedex_routes</a:t>
            </a:r>
            <a:r>
              <a:rPr lang="en-US" dirty="0">
                <a:solidFill>
                  <a:schemeClr val="accent4"/>
                </a:solidFill>
              </a:rPr>
              <a:t> r left join </a:t>
            </a:r>
            <a:r>
              <a:rPr lang="en-US" dirty="0" err="1">
                <a:solidFill>
                  <a:schemeClr val="accent4"/>
                </a:solidFill>
              </a:rPr>
              <a:t>fedex_shipments</a:t>
            </a:r>
            <a:r>
              <a:rPr lang="en-US" dirty="0">
                <a:solidFill>
                  <a:schemeClr val="accent4"/>
                </a:solidFill>
              </a:rPr>
              <a:t> s on </a:t>
            </a:r>
            <a:r>
              <a:rPr lang="en-US" dirty="0" err="1">
                <a:solidFill>
                  <a:schemeClr val="accent4"/>
                </a:solidFill>
              </a:rPr>
              <a:t>r.Route_ID</a:t>
            </a:r>
            <a:r>
              <a:rPr lang="en-US" dirty="0">
                <a:solidFill>
                  <a:schemeClr val="accent4"/>
                </a:solidFill>
              </a:rPr>
              <a:t> = </a:t>
            </a:r>
            <a:r>
              <a:rPr lang="en-US" dirty="0" err="1">
                <a:solidFill>
                  <a:schemeClr val="accent4"/>
                </a:solidFill>
              </a:rPr>
              <a:t>s.Route_ID</a:t>
            </a:r>
            <a:r>
              <a:rPr lang="en-US" dirty="0">
                <a:solidFill>
                  <a:schemeClr val="accent4"/>
                </a:solidFill>
              </a:rPr>
              <a:t> group by </a:t>
            </a:r>
            <a:r>
              <a:rPr lang="en-US" dirty="0" err="1">
                <a:solidFill>
                  <a:schemeClr val="accent4"/>
                </a:solidFill>
              </a:rPr>
              <a:t>Source_Countryorder</a:t>
            </a:r>
            <a:r>
              <a:rPr lang="en-US" dirty="0">
                <a:solidFill>
                  <a:schemeClr val="accent4"/>
                </a:solidFill>
              </a:rPr>
              <a:t> by </a:t>
            </a:r>
            <a:r>
              <a:rPr lang="en-US" dirty="0" err="1">
                <a:solidFill>
                  <a:schemeClr val="accent4"/>
                </a:solidFill>
              </a:rPr>
              <a:t>Average_Delay</a:t>
            </a:r>
            <a:r>
              <a:rPr lang="en-US" dirty="0">
                <a:solidFill>
                  <a:schemeClr val="accent4"/>
                </a:solidFill>
              </a:rPr>
              <a:t> desc;</a:t>
            </a: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r>
              <a:rPr lang="en-US" dirty="0"/>
              <a:t>Orders On-Time Delivery %</a:t>
            </a:r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select </a:t>
            </a:r>
            <a:r>
              <a:rPr lang="en-US" dirty="0" err="1">
                <a:solidFill>
                  <a:schemeClr val="accent4"/>
                </a:solidFill>
              </a:rPr>
              <a:t>Order_ID,round</a:t>
            </a:r>
            <a:r>
              <a:rPr lang="en-US" dirty="0">
                <a:solidFill>
                  <a:schemeClr val="accent4"/>
                </a:solidFill>
              </a:rPr>
              <a:t>((count(case when </a:t>
            </a:r>
            <a:r>
              <a:rPr lang="en-US" dirty="0" err="1">
                <a:solidFill>
                  <a:schemeClr val="accent4"/>
                </a:solidFill>
              </a:rPr>
              <a:t>Delay_Hours</a:t>
            </a:r>
            <a:r>
              <a:rPr lang="en-US" dirty="0">
                <a:solidFill>
                  <a:schemeClr val="accent4"/>
                </a:solidFill>
              </a:rPr>
              <a:t>=0 then 1 end)/count(*))*100,2) as `</a:t>
            </a:r>
            <a:r>
              <a:rPr lang="en-US" dirty="0" err="1">
                <a:solidFill>
                  <a:schemeClr val="accent4"/>
                </a:solidFill>
              </a:rPr>
              <a:t>On_Time_Delivery%`from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 err="1">
                <a:solidFill>
                  <a:schemeClr val="accent4"/>
                </a:solidFill>
              </a:rPr>
              <a:t>fedex_shipments</a:t>
            </a:r>
            <a:r>
              <a:rPr lang="en-US" dirty="0">
                <a:solidFill>
                  <a:schemeClr val="accent4"/>
                </a:solidFill>
              </a:rPr>
              <a:t> group by </a:t>
            </a:r>
            <a:r>
              <a:rPr lang="en-US" dirty="0" err="1">
                <a:solidFill>
                  <a:schemeClr val="accent4"/>
                </a:solidFill>
              </a:rPr>
              <a:t>Order_ID</a:t>
            </a:r>
            <a:r>
              <a:rPr lang="en-US" dirty="0">
                <a:solidFill>
                  <a:schemeClr val="accent4"/>
                </a:solidFill>
              </a:rPr>
              <a:t> order by `</a:t>
            </a:r>
            <a:r>
              <a:rPr lang="en-US" dirty="0" err="1">
                <a:solidFill>
                  <a:schemeClr val="accent4"/>
                </a:solidFill>
              </a:rPr>
              <a:t>On_Time_Delivery</a:t>
            </a:r>
            <a:r>
              <a:rPr lang="en-US" dirty="0">
                <a:solidFill>
                  <a:schemeClr val="accent4"/>
                </a:solidFill>
              </a:rPr>
              <a:t>%` desc;</a:t>
            </a: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`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6A8907-1FFE-1485-19F0-881702AC2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1" y="2405744"/>
            <a:ext cx="6466114" cy="14586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2F93E2-95C4-11B9-11F0-303D99E92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2" y="5232754"/>
            <a:ext cx="6466114" cy="1319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6742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7E0B4-D017-9970-5E0D-1F4F13172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F6A98-E7DC-4CA2-7A6B-EE6C43306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64" y="402771"/>
            <a:ext cx="7406640" cy="718457"/>
          </a:xfrm>
        </p:spPr>
        <p:txBody>
          <a:bodyPr>
            <a:normAutofit/>
          </a:bodyPr>
          <a:lstStyle/>
          <a:p>
            <a:r>
              <a:rPr lang="en-US" dirty="0"/>
              <a:t>Advanced KPI Reporting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2D384-B020-2071-2F22-3E095EEE2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673" y="1284514"/>
            <a:ext cx="7404653" cy="481148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Average Delay (in hours) per </a:t>
            </a:r>
            <a:r>
              <a:rPr lang="en-US" dirty="0" err="1"/>
              <a:t>Route_ID</a:t>
            </a:r>
            <a:endParaRPr lang="en-US" dirty="0"/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select </a:t>
            </a:r>
            <a:r>
              <a:rPr lang="en-US" dirty="0" err="1">
                <a:solidFill>
                  <a:schemeClr val="accent4"/>
                </a:solidFill>
              </a:rPr>
              <a:t>Route_ID</a:t>
            </a:r>
            <a:r>
              <a:rPr lang="en-US" dirty="0">
                <a:solidFill>
                  <a:schemeClr val="accent4"/>
                </a:solidFill>
              </a:rPr>
              <a:t>, round(avg(</a:t>
            </a:r>
            <a:r>
              <a:rPr lang="en-US" dirty="0" err="1">
                <a:solidFill>
                  <a:schemeClr val="accent4"/>
                </a:solidFill>
              </a:rPr>
              <a:t>Delay_Hours</a:t>
            </a:r>
            <a:r>
              <a:rPr lang="en-US" dirty="0">
                <a:solidFill>
                  <a:schemeClr val="accent4"/>
                </a:solidFill>
              </a:rPr>
              <a:t>),2) as </a:t>
            </a:r>
            <a:r>
              <a:rPr lang="en-US" dirty="0" err="1">
                <a:solidFill>
                  <a:schemeClr val="accent4"/>
                </a:solidFill>
              </a:rPr>
              <a:t>Average_Delay</a:t>
            </a:r>
            <a:r>
              <a:rPr lang="en-US" dirty="0">
                <a:solidFill>
                  <a:schemeClr val="accent4"/>
                </a:solidFill>
              </a:rPr>
              <a:t> from </a:t>
            </a:r>
            <a:r>
              <a:rPr lang="en-US" dirty="0" err="1">
                <a:solidFill>
                  <a:schemeClr val="accent4"/>
                </a:solidFill>
              </a:rPr>
              <a:t>fedex_shipments</a:t>
            </a:r>
            <a:r>
              <a:rPr lang="en-US" dirty="0">
                <a:solidFill>
                  <a:schemeClr val="accent4"/>
                </a:solidFill>
              </a:rPr>
              <a:t> group by </a:t>
            </a:r>
            <a:r>
              <a:rPr lang="en-US" dirty="0" err="1">
                <a:solidFill>
                  <a:schemeClr val="accent4"/>
                </a:solidFill>
              </a:rPr>
              <a:t>Route_ID</a:t>
            </a:r>
            <a:r>
              <a:rPr lang="en-US" dirty="0">
                <a:solidFill>
                  <a:schemeClr val="accent4"/>
                </a:solidFill>
              </a:rPr>
              <a:t> order by </a:t>
            </a:r>
            <a:r>
              <a:rPr lang="en-US" dirty="0" err="1">
                <a:solidFill>
                  <a:schemeClr val="accent4"/>
                </a:solidFill>
              </a:rPr>
              <a:t>Average_Delay</a:t>
            </a:r>
            <a:r>
              <a:rPr lang="en-US" dirty="0">
                <a:solidFill>
                  <a:schemeClr val="accent4"/>
                </a:solidFill>
              </a:rPr>
              <a:t> desc;</a:t>
            </a: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r>
              <a:rPr lang="en-US" dirty="0"/>
              <a:t>Warehouse Utilization %</a:t>
            </a:r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with </a:t>
            </a:r>
            <a:r>
              <a:rPr lang="en-US" dirty="0" err="1">
                <a:solidFill>
                  <a:schemeClr val="accent4"/>
                </a:solidFill>
              </a:rPr>
              <a:t>cte</a:t>
            </a:r>
            <a:r>
              <a:rPr lang="en-US" dirty="0">
                <a:solidFill>
                  <a:schemeClr val="accent4"/>
                </a:solidFill>
              </a:rPr>
              <a:t> as (Select </a:t>
            </a:r>
            <a:r>
              <a:rPr lang="en-US" dirty="0" err="1">
                <a:solidFill>
                  <a:schemeClr val="accent4"/>
                </a:solidFill>
              </a:rPr>
              <a:t>Warehouse_ID</a:t>
            </a:r>
            <a:r>
              <a:rPr lang="en-US" dirty="0">
                <a:solidFill>
                  <a:schemeClr val="accent4"/>
                </a:solidFill>
              </a:rPr>
              <a:t>, count(*) as </a:t>
            </a:r>
            <a:r>
              <a:rPr lang="en-US" dirty="0" err="1">
                <a:solidFill>
                  <a:schemeClr val="accent4"/>
                </a:solidFill>
              </a:rPr>
              <a:t>Shipment_Handled</a:t>
            </a:r>
            <a:r>
              <a:rPr lang="en-US" dirty="0">
                <a:solidFill>
                  <a:schemeClr val="accent4"/>
                </a:solidFill>
              </a:rPr>
              <a:t> from </a:t>
            </a:r>
            <a:r>
              <a:rPr lang="en-US" dirty="0" err="1">
                <a:solidFill>
                  <a:schemeClr val="accent4"/>
                </a:solidFill>
              </a:rPr>
              <a:t>fedex_shipments</a:t>
            </a:r>
            <a:r>
              <a:rPr lang="en-US" dirty="0">
                <a:solidFill>
                  <a:schemeClr val="accent4"/>
                </a:solidFill>
              </a:rPr>
              <a:t> group by </a:t>
            </a:r>
            <a:r>
              <a:rPr lang="en-US" dirty="0" err="1">
                <a:solidFill>
                  <a:schemeClr val="accent4"/>
                </a:solidFill>
              </a:rPr>
              <a:t>Warehouse_ID</a:t>
            </a:r>
            <a:r>
              <a:rPr lang="en-US" dirty="0">
                <a:solidFill>
                  <a:schemeClr val="accent4"/>
                </a:solidFill>
              </a:rPr>
              <a:t>)</a:t>
            </a:r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select </a:t>
            </a:r>
            <a:r>
              <a:rPr lang="en-US" dirty="0" err="1">
                <a:solidFill>
                  <a:schemeClr val="accent4"/>
                </a:solidFill>
              </a:rPr>
              <a:t>w.Warehouse_ID</a:t>
            </a:r>
            <a:r>
              <a:rPr lang="en-US" dirty="0">
                <a:solidFill>
                  <a:schemeClr val="accent4"/>
                </a:solidFill>
              </a:rPr>
              <a:t>, round(</a:t>
            </a:r>
            <a:r>
              <a:rPr lang="en-US" dirty="0" err="1">
                <a:solidFill>
                  <a:schemeClr val="accent4"/>
                </a:solidFill>
              </a:rPr>
              <a:t>cte.Shipment_Handled</a:t>
            </a:r>
            <a:r>
              <a:rPr lang="en-US" dirty="0">
                <a:solidFill>
                  <a:schemeClr val="accent4"/>
                </a:solidFill>
              </a:rPr>
              <a:t>/</a:t>
            </a:r>
            <a:r>
              <a:rPr lang="en-US" dirty="0" err="1">
                <a:solidFill>
                  <a:schemeClr val="accent4"/>
                </a:solidFill>
              </a:rPr>
              <a:t>w.Capacity_per_day</a:t>
            </a:r>
            <a:r>
              <a:rPr lang="en-US" dirty="0">
                <a:solidFill>
                  <a:schemeClr val="accent4"/>
                </a:solidFill>
              </a:rPr>
              <a:t> * 100,2) as `</a:t>
            </a:r>
            <a:r>
              <a:rPr lang="en-US" dirty="0" err="1">
                <a:solidFill>
                  <a:schemeClr val="accent4"/>
                </a:solidFill>
              </a:rPr>
              <a:t>Warehouse_Utilization%`from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 err="1">
                <a:solidFill>
                  <a:schemeClr val="accent4"/>
                </a:solidFill>
              </a:rPr>
              <a:t>fedex_warehouses</a:t>
            </a:r>
            <a:r>
              <a:rPr lang="en-US" dirty="0">
                <a:solidFill>
                  <a:schemeClr val="accent4"/>
                </a:solidFill>
              </a:rPr>
              <a:t> w left join </a:t>
            </a:r>
            <a:r>
              <a:rPr lang="en-US" dirty="0" err="1">
                <a:solidFill>
                  <a:schemeClr val="accent4"/>
                </a:solidFill>
              </a:rPr>
              <a:t>cte</a:t>
            </a:r>
            <a:r>
              <a:rPr lang="en-US" dirty="0">
                <a:solidFill>
                  <a:schemeClr val="accent4"/>
                </a:solidFill>
              </a:rPr>
              <a:t> on </a:t>
            </a:r>
            <a:r>
              <a:rPr lang="en-US" dirty="0" err="1">
                <a:solidFill>
                  <a:schemeClr val="accent4"/>
                </a:solidFill>
              </a:rPr>
              <a:t>w.Warehouse_ID</a:t>
            </a:r>
            <a:r>
              <a:rPr lang="en-US" dirty="0">
                <a:solidFill>
                  <a:schemeClr val="accent4"/>
                </a:solidFill>
              </a:rPr>
              <a:t> = </a:t>
            </a:r>
            <a:r>
              <a:rPr lang="en-US" dirty="0" err="1">
                <a:solidFill>
                  <a:schemeClr val="accent4"/>
                </a:solidFill>
              </a:rPr>
              <a:t>cte.Warehouse_ID</a:t>
            </a:r>
            <a:r>
              <a:rPr lang="en-US" dirty="0">
                <a:solidFill>
                  <a:schemeClr val="accent4"/>
                </a:solidFill>
              </a:rPr>
              <a:t> order by `</a:t>
            </a:r>
            <a:r>
              <a:rPr lang="en-US" dirty="0" err="1">
                <a:solidFill>
                  <a:schemeClr val="accent4"/>
                </a:solidFill>
              </a:rPr>
              <a:t>Warehouse_Utilization</a:t>
            </a:r>
            <a:r>
              <a:rPr lang="en-US" dirty="0">
                <a:solidFill>
                  <a:schemeClr val="accent4"/>
                </a:solidFill>
              </a:rPr>
              <a:t>%` desc;</a:t>
            </a: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endParaRPr lang="en-US" dirty="0">
              <a:solidFill>
                <a:schemeClr val="accent4"/>
              </a:solidFill>
            </a:endParaRPr>
          </a:p>
          <a:p>
            <a:pPr marL="34290" indent="0">
              <a:buNone/>
            </a:pPr>
            <a:r>
              <a:rPr lang="en-US" dirty="0">
                <a:solidFill>
                  <a:schemeClr val="accent4"/>
                </a:solidFill>
              </a:rPr>
              <a:t>`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24332E-A777-22CD-8A64-06C26E168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96" y="2139042"/>
            <a:ext cx="6335133" cy="13389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3239AC-D901-0010-0898-E435B77D1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696" y="5214257"/>
            <a:ext cx="6335133" cy="124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2981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DB0358-436D-AE54-C1DA-3D8783EFB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B71362F-6305-42A2-8633-285CE3813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243840"/>
            <a:ext cx="879348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1F50C1-F708-485D-B1A9-65873AB21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243840"/>
            <a:ext cx="879348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AF7F52A-561E-4CE4-A251-1565CF80F2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995" y="3733800"/>
            <a:ext cx="6172200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B67E998-E312-45A7-A84D-81D9342085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995" y="5462458"/>
            <a:ext cx="6172200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6514A97-8575-DAE8-A476-8DC7DBBA0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485" y="4208424"/>
            <a:ext cx="747522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85000"/>
              </a:lnSpc>
            </a:pPr>
            <a:r>
              <a:rPr lang="en-US" sz="4800" b="1" cap="all">
                <a:solidFill>
                  <a:srgbClr val="FFFFFF"/>
                </a:solidFill>
              </a:rPr>
              <a:t>Advanced KPI Visuals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A3BFD8-1DCA-4E53-9E5F-9292C9BE3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243841"/>
            <a:ext cx="8791575" cy="3964584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5FEC54-B5DA-3C01-B7C1-9B6153543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829" y="1230086"/>
            <a:ext cx="3914521" cy="2029091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9769514-D790-37D7-6A1C-410AC39FA0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14824" y="1147498"/>
            <a:ext cx="3675761" cy="216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1146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28D9B36-75B9-4435-83E6-0A9C81A12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243840"/>
            <a:ext cx="879348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5" name="Picture 4" descr="Blurred micro image of a street traffic">
            <a:extLst>
              <a:ext uri="{FF2B5EF4-FFF2-40B4-BE49-F238E27FC236}">
                <a16:creationId xmlns:a16="http://schemas.microsoft.com/office/drawing/2014/main" id="{A31CC366-1DB8-496A-5BCD-BDF60F7732E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28057"/>
          </a:xfrm>
        </p:spPr>
        <p:txBody>
          <a:bodyPr>
            <a:normAutofit/>
          </a:bodyPr>
          <a:lstStyle/>
          <a:p>
            <a:r>
              <a:rPr lang="en-US" dirty="0"/>
              <a:t>Key </a:t>
            </a:r>
            <a:r>
              <a:rPr dirty="0"/>
              <a:t>Business</a:t>
            </a:r>
            <a:r>
              <a:rPr lang="en-US" dirty="0"/>
              <a:t> Insights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0" y="2057400"/>
            <a:ext cx="7404653" cy="4038600"/>
          </a:xfrm>
        </p:spPr>
        <p:txBody>
          <a:bodyPr>
            <a:normAutofit/>
          </a:bodyPr>
          <a:lstStyle/>
          <a:p>
            <a:pPr marL="34290" indent="0">
              <a:buNone/>
            </a:pPr>
            <a:r>
              <a:rPr lang="en-US" sz="1400" b="1" dirty="0"/>
              <a:t>1. Route-Level Delays Are the Primary Operational Bottleneck</a:t>
            </a:r>
          </a:p>
          <a:p>
            <a:r>
              <a:rPr lang="en-US" sz="1400" dirty="0"/>
              <a:t>Routes R002, R007, and R020 consistently show the highest average delay hours. </a:t>
            </a:r>
          </a:p>
          <a:p>
            <a:r>
              <a:rPr lang="en-US" sz="1400" dirty="0"/>
              <a:t>Routes R002, R007, and R008 also have the highest proportion of delayed shipments. </a:t>
            </a:r>
          </a:p>
          <a:p>
            <a:pPr marL="34290" indent="0">
              <a:buNone/>
            </a:pPr>
            <a:r>
              <a:rPr lang="en-US" sz="1400" b="1" dirty="0"/>
              <a:t>2. Significant Route Inefficiencies Exist</a:t>
            </a:r>
          </a:p>
          <a:p>
            <a:r>
              <a:rPr lang="en-US" sz="1400" dirty="0"/>
              <a:t>Routes R006, R015, and R003 exhibit the poorest Distance-to-Time efficiency ratios. </a:t>
            </a:r>
          </a:p>
          <a:p>
            <a:r>
              <a:rPr lang="en-US" sz="1400" dirty="0"/>
              <a:t>Indicates possible congestion, excessive customs delays, or scheduling inefficiencies. </a:t>
            </a:r>
          </a:p>
          <a:p>
            <a:pPr marL="34290" indent="0">
              <a:buNone/>
            </a:pPr>
            <a:r>
              <a:rPr lang="en-US" sz="1400" b="1" dirty="0"/>
              <a:t>3. Traffic Is the Leading Cause of Shipment Delays</a:t>
            </a:r>
          </a:p>
          <a:p>
            <a:r>
              <a:rPr lang="en-US" sz="1400" dirty="0"/>
              <a:t>More than half of all recorded delays are attributed to traffic-related disruptions. </a:t>
            </a:r>
          </a:p>
          <a:p>
            <a:r>
              <a:rPr lang="en-US" sz="1400" dirty="0"/>
              <a:t>Weather-related disruptions are the second-largest contributor. </a:t>
            </a:r>
          </a:p>
          <a:p>
            <a:pPr marL="34290" indent="0">
              <a:buNone/>
            </a:pPr>
            <a:r>
              <a:rPr lang="en-US" sz="1400" b="1" dirty="0"/>
              <a:t>4. Warehouse Performance Varies Considerably</a:t>
            </a:r>
          </a:p>
          <a:p>
            <a:r>
              <a:rPr lang="en-US" sz="1400" dirty="0"/>
              <a:t>Warehouses W004, W003, and W008 generate the highest average delay hours. </a:t>
            </a:r>
          </a:p>
          <a:p>
            <a:r>
              <a:rPr lang="en-US" sz="1400" dirty="0"/>
              <a:t>Despite large shipment volumes, some warehouses demonstrate better service than others.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CBAC2A-235D-231A-A583-5004B19F3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28D9B36-75B9-4435-83E6-0A9C81A12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243840"/>
            <a:ext cx="879348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7" name="Picture 6" descr="Storage crates">
            <a:extLst>
              <a:ext uri="{FF2B5EF4-FFF2-40B4-BE49-F238E27FC236}">
                <a16:creationId xmlns:a16="http://schemas.microsoft.com/office/drawing/2014/main" id="{DB54598D-2C14-1B54-5901-39EB9844C9A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l="4932" r="640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6FF57E-0514-20AE-5C3D-72C6B9A83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</p:spPr>
        <p:txBody>
          <a:bodyPr>
            <a:normAutofit/>
          </a:bodyPr>
          <a:lstStyle/>
          <a:p>
            <a:r>
              <a:rPr lang="en-US" dirty="0"/>
              <a:t>Key </a:t>
            </a:r>
            <a:r>
              <a:rPr dirty="0"/>
              <a:t>Business</a:t>
            </a:r>
            <a:r>
              <a:rPr lang="en-US" dirty="0"/>
              <a:t> Insights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85C5F-5C39-727D-D235-7DEEBBFC7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0" y="2057400"/>
            <a:ext cx="7404653" cy="4038600"/>
          </a:xfrm>
        </p:spPr>
        <p:txBody>
          <a:bodyPr>
            <a:normAutofit/>
          </a:bodyPr>
          <a:lstStyle/>
          <a:p>
            <a:pPr marL="34290" indent="0">
              <a:buNone/>
            </a:pPr>
            <a:r>
              <a:rPr lang="en-US" sz="1400" b="1" dirty="0"/>
              <a:t>5. Capacity Utilization Is Uneven Across Warehouses</a:t>
            </a:r>
          </a:p>
          <a:p>
            <a:r>
              <a:rPr lang="en-US" sz="1400" dirty="0"/>
              <a:t>W010 and W005 show the highest utilization levels. </a:t>
            </a:r>
          </a:p>
          <a:p>
            <a:r>
              <a:rPr lang="en-US" sz="1400" dirty="0"/>
              <a:t>Several warehouses operate significantly below capacity. </a:t>
            </a:r>
          </a:p>
          <a:p>
            <a:pPr marL="34290" indent="0">
              <a:buNone/>
            </a:pPr>
            <a:r>
              <a:rPr lang="en-US" sz="1400" b="1" dirty="0"/>
              <a:t>6. International Routes Face Greater Delay Risks</a:t>
            </a:r>
          </a:p>
          <a:p>
            <a:r>
              <a:rPr lang="en-US" sz="1400" dirty="0"/>
              <a:t>Shipments originating from UAE, Turkey, China, and Singapore experience the highest average delays. </a:t>
            </a:r>
          </a:p>
          <a:p>
            <a:pPr marL="34290" indent="0">
              <a:buNone/>
            </a:pPr>
            <a:r>
              <a:rPr lang="en-US" sz="1400" b="1" dirty="0"/>
              <a:t>7. Delivery Type Does Not Significantly Impact Delays</a:t>
            </a:r>
          </a:p>
          <a:p>
            <a:r>
              <a:rPr lang="en-US" sz="1400" dirty="0"/>
              <a:t>Express and Standard deliveries show relatively similar average delay durations. </a:t>
            </a:r>
          </a:p>
          <a:p>
            <a:r>
              <a:rPr lang="en-US" sz="1400" dirty="0"/>
              <a:t>Operational bottlenecks appear to be network / routes rather than service-type driven. </a:t>
            </a:r>
          </a:p>
          <a:p>
            <a:pPr marL="34290" indent="0">
              <a:buNone/>
            </a:pPr>
            <a:r>
              <a:rPr lang="en-US" sz="1400" b="1" dirty="0"/>
              <a:t>8. High In-Transit and Returned Shipment Rates Require Attention</a:t>
            </a:r>
          </a:p>
          <a:p>
            <a:r>
              <a:rPr lang="en-US" sz="1400" dirty="0"/>
              <a:t>Routes R018, R013, and R020 show elevated percentages of shipments remaining in transit or being returned. </a:t>
            </a:r>
          </a:p>
          <a:p>
            <a:r>
              <a:rPr lang="en-US" sz="1400" dirty="0"/>
              <a:t>Indicates potential service reliability issues and increased operational costs. </a:t>
            </a:r>
          </a:p>
        </p:txBody>
      </p:sp>
    </p:spTree>
    <p:extLst>
      <p:ext uri="{BB962C8B-B14F-4D97-AF65-F5344CB8AC3E}">
        <p14:creationId xmlns:p14="http://schemas.microsoft.com/office/powerpoint/2010/main" val="41518379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BE900E-FC8F-D267-8D5C-1D188CC32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4C02A-408B-AE04-9B08-F5E7CFC7C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</p:spPr>
        <p:txBody>
          <a:bodyPr>
            <a:normAutofit/>
          </a:bodyPr>
          <a:lstStyle/>
          <a:p>
            <a:r>
              <a:rPr dirty="0"/>
              <a:t>Business Recommendations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8376C3-52D6-7B4B-899A-1454449E26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1245266"/>
              </p:ext>
            </p:extLst>
          </p:nvPr>
        </p:nvGraphicFramePr>
        <p:xfrm>
          <a:off x="857250" y="2298530"/>
          <a:ext cx="7404497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11804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28D9B36-75B9-4435-83E6-0A9C81A12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355" y="243840"/>
            <a:ext cx="879348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5" name="Picture 4" descr="Boxes and roller conveyor">
            <a:extLst>
              <a:ext uri="{FF2B5EF4-FFF2-40B4-BE49-F238E27FC236}">
                <a16:creationId xmlns:a16="http://schemas.microsoft.com/office/drawing/2014/main" id="{649F1702-32A4-0E97-9F29-ADAFED74874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</p:spPr>
        <p:txBody>
          <a:bodyPr>
            <a:normAutofit/>
          </a:bodyPr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0" y="2057400"/>
            <a:ext cx="7404653" cy="4038600"/>
          </a:xfrm>
        </p:spPr>
        <p:txBody>
          <a:bodyPr>
            <a:normAutofit/>
          </a:bodyPr>
          <a:lstStyle/>
          <a:p>
            <a:pPr marL="34290" indent="0">
              <a:buNone/>
            </a:pPr>
            <a:r>
              <a:rPr lang="en-US" dirty="0"/>
              <a:t>The analysis reveals that delivery delays are primarily driven by route inefficiencies, traffic-related disruptions, and inconsistent warehouse performance. By optimizing high-risk routes, balancing warehouse workloads, and implementing proactive delay-management strategies, FedEx can improve on-time delivery performance, enhance customer satisfaction, and reduce operational costs across its global logistics network.</a:t>
            </a:r>
          </a:p>
          <a:p>
            <a:pPr marL="34290" indent="0">
              <a:buNone/>
            </a:pPr>
            <a:endParaRPr lang="en-US" dirty="0"/>
          </a:p>
          <a:p>
            <a:pPr marL="3429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Video Link : </a:t>
            </a:r>
            <a:r>
              <a:rPr lang="en-US" b="1" dirty="0">
                <a:solidFill>
                  <a:schemeClr val="accent3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https://drive.google.com/drive/folders/1BxI8QAotJSqSuy_h-ZX2xX4d8hL-mcug?usp=sharing</a:t>
            </a:r>
            <a:r>
              <a:rPr lang="en-US" b="1" dirty="0">
                <a:solidFill>
                  <a:schemeClr val="accent3"/>
                </a:solidFill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761</TotalTime>
  <Words>2757</Words>
  <Application>Microsoft Office PowerPoint</Application>
  <PresentationFormat>On-screen Show (4:3)</PresentationFormat>
  <Paragraphs>248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Aptos</vt:lpstr>
      <vt:lpstr>Corbel</vt:lpstr>
      <vt:lpstr>Basis</vt:lpstr>
      <vt:lpstr>Logistics Optimization &amp; Delivery Performance Analytics </vt:lpstr>
      <vt:lpstr>Project Overview</vt:lpstr>
      <vt:lpstr>Project Objectives</vt:lpstr>
      <vt:lpstr>Dataset Overview</vt:lpstr>
      <vt:lpstr>Database Schema</vt:lpstr>
      <vt:lpstr>Data Cleaning &amp; Preparation</vt:lpstr>
      <vt:lpstr>Data Cleaning &amp; Preparation</vt:lpstr>
      <vt:lpstr>Delivery Delay Analysis </vt:lpstr>
      <vt:lpstr>Delivery Delay Analysis </vt:lpstr>
      <vt:lpstr>Delivery Delay Analysis Visuals</vt:lpstr>
      <vt:lpstr>Route Optimization Insights</vt:lpstr>
      <vt:lpstr>Route Optimization Insights</vt:lpstr>
      <vt:lpstr>Route Optimization Visuals</vt:lpstr>
      <vt:lpstr>Route Optimization Insights</vt:lpstr>
      <vt:lpstr>Warehouse Performance</vt:lpstr>
      <vt:lpstr>Warehouse Performance</vt:lpstr>
      <vt:lpstr>Warehouse Performance Visuals</vt:lpstr>
      <vt:lpstr>Delivery Agent Performance</vt:lpstr>
      <vt:lpstr>Delivery Agent Performance</vt:lpstr>
      <vt:lpstr>Delivery Agent Performance</vt:lpstr>
      <vt:lpstr>Shipment Tracking Analytics</vt:lpstr>
      <vt:lpstr>Shipment Tracking Analytics</vt:lpstr>
      <vt:lpstr>Shipment Tracking Analytics Visuals</vt:lpstr>
      <vt:lpstr>Advanced KPI Reporting</vt:lpstr>
      <vt:lpstr>Advanced KPI Reporting</vt:lpstr>
      <vt:lpstr>Advanced KPI Visuals</vt:lpstr>
      <vt:lpstr>Key Business Insights</vt:lpstr>
      <vt:lpstr>Key Business Insights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Office</cp:lastModifiedBy>
  <cp:revision>6</cp:revision>
  <dcterms:created xsi:type="dcterms:W3CDTF">2013-01-27T09:14:16Z</dcterms:created>
  <dcterms:modified xsi:type="dcterms:W3CDTF">2026-06-02T17:28:27Z</dcterms:modified>
  <cp:category/>
</cp:coreProperties>
</file>